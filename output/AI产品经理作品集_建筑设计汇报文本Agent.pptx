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aa81476f474e9e" /><Relationship Type="http://schemas.openxmlformats.org/officeDocument/2006/relationships/extended-properties" Target="/docProps/app.xml" Id="R23928ba49f1d4d7e" /><Relationship Type="http://schemas.openxmlformats.org/officeDocument/2006/relationships/officeDocument" Target="/ppt/presentation.xml" Id="Rf0a469975f184b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062ff434754274"/>
  </p:sldMasterIdLst>
  <p:notesMasterIdLst>
    <p:notesMasterId xmlns:r="http://schemas.openxmlformats.org/officeDocument/2006/relationships" r:id="Rd2d2c813605c4eec"/>
  </p:notesMasterIdLst>
  <p:sldIdLst>
    <p:sldId xmlns:r="http://schemas.openxmlformats.org/officeDocument/2006/relationships" id="256" r:id="Ra69cdaaf0caf4ecd"/>
    <p:sldId xmlns:r="http://schemas.openxmlformats.org/officeDocument/2006/relationships" id="257" r:id="Rfc8e144a50114690"/>
    <p:sldId xmlns:r="http://schemas.openxmlformats.org/officeDocument/2006/relationships" id="258" r:id="R5fc0a5334a894e7f"/>
    <p:sldId xmlns:r="http://schemas.openxmlformats.org/officeDocument/2006/relationships" id="259" r:id="Rf938aae3c0a94163"/>
    <p:sldId xmlns:r="http://schemas.openxmlformats.org/officeDocument/2006/relationships" id="260" r:id="R02be9ac38e12481f"/>
    <p:sldId xmlns:r="http://schemas.openxmlformats.org/officeDocument/2006/relationships" id="261" r:id="Rf78a8526876f4486"/>
    <p:sldId xmlns:r="http://schemas.openxmlformats.org/officeDocument/2006/relationships" id="262" r:id="R5084a6cce38842b0"/>
    <p:sldId xmlns:r="http://schemas.openxmlformats.org/officeDocument/2006/relationships" id="263" r:id="R329bbb023d07449d"/>
    <p:sldId xmlns:r="http://schemas.openxmlformats.org/officeDocument/2006/relationships" id="264" r:id="Rf1fc472f27f34e51"/>
    <p:sldId xmlns:r="http://schemas.openxmlformats.org/officeDocument/2006/relationships" id="265" r:id="R4997c11973154379"/>
    <p:sldId xmlns:r="http://schemas.openxmlformats.org/officeDocument/2006/relationships" id="266" r:id="R9184c3c47c2e48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1b636b64374cea" /><Relationship Type="http://schemas.openxmlformats.org/officeDocument/2006/relationships/slideMaster" Target="/ppt/slideMasters/slideMaster1.xml" Id="R41062ff434754274" /><Relationship Type="http://schemas.openxmlformats.org/officeDocument/2006/relationships/notesMaster" Target="/ppt/notesMasters/notesMaster1.xml" Id="Rd2d2c813605c4eec" /><Relationship Type="http://schemas.openxmlformats.org/officeDocument/2006/relationships/presProps" Target="/ppt/presProps.xml" Id="Re542adabdc554200" /><Relationship Type="http://schemas.openxmlformats.org/officeDocument/2006/relationships/tableStyles" Target="/ppt/tableStyles.xml" Id="R57f085b353c94bbb" /><Relationship Type="http://schemas.openxmlformats.org/officeDocument/2006/relationships/slide" Target="/ppt/slides/slide1.xml" Id="Ra69cdaaf0caf4ecd" /><Relationship Type="http://schemas.openxmlformats.org/officeDocument/2006/relationships/slide" Target="/ppt/slides/slide2.xml" Id="Rfc8e144a50114690" /><Relationship Type="http://schemas.openxmlformats.org/officeDocument/2006/relationships/slide" Target="/ppt/slides/slide3.xml" Id="R5fc0a5334a894e7f" /><Relationship Type="http://schemas.openxmlformats.org/officeDocument/2006/relationships/slide" Target="/ppt/slides/slide4.xml" Id="Rf938aae3c0a94163" /><Relationship Type="http://schemas.openxmlformats.org/officeDocument/2006/relationships/slide" Target="/ppt/slides/slide5.xml" Id="R02be9ac38e12481f" /><Relationship Type="http://schemas.openxmlformats.org/officeDocument/2006/relationships/slide" Target="/ppt/slides/slide6.xml" Id="Rf78a8526876f4486" /><Relationship Type="http://schemas.openxmlformats.org/officeDocument/2006/relationships/slide" Target="/ppt/slides/slide7.xml" Id="R5084a6cce38842b0" /><Relationship Type="http://schemas.openxmlformats.org/officeDocument/2006/relationships/slide" Target="/ppt/slides/slide8.xml" Id="R329bbb023d07449d" /><Relationship Type="http://schemas.openxmlformats.org/officeDocument/2006/relationships/slide" Target="/ppt/slides/slide9.xml" Id="Rf1fc472f27f34e51" /><Relationship Type="http://schemas.openxmlformats.org/officeDocument/2006/relationships/slide" Target="/ppt/slides/slide10.xml" Id="R4997c11973154379" /><Relationship Type="http://schemas.openxmlformats.org/officeDocument/2006/relationships/slide" Target="/ppt/slides/slide11.xml" Id="R9184c3c47c2e48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9f720257a34e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804b5d6e97438e" /><Relationship Type="http://schemas.openxmlformats.org/officeDocument/2006/relationships/notesMaster" Target="/ppt/notesMasters/notesMaster1.xml" Id="R8e0631ecb3d240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2f45ccd1fc4eab" /><Relationship Type="http://schemas.openxmlformats.org/officeDocument/2006/relationships/notesMaster" Target="/ppt/notesMasters/notesMaster1.xml" Id="R6c7d8adf67aa4a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d04c6b44954743" /><Relationship Type="http://schemas.openxmlformats.org/officeDocument/2006/relationships/notesMaster" Target="/ppt/notesMasters/notesMaster1.xml" Id="R501257bf4cb64a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49acd2989742b3" /><Relationship Type="http://schemas.openxmlformats.org/officeDocument/2006/relationships/notesMaster" Target="/ppt/notesMasters/notesMaster1.xml" Id="R63fa3a89e4b144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40347110344049" /><Relationship Type="http://schemas.openxmlformats.org/officeDocument/2006/relationships/notesMaster" Target="/ppt/notesMasters/notesMaster1.xml" Id="R24fae5c59b6144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7918324b8b4db4" /><Relationship Type="http://schemas.openxmlformats.org/officeDocument/2006/relationships/notesMaster" Target="/ppt/notesMasters/notesMaster1.xml" Id="R477dcf9dc1c043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8c9340a53740a1" /><Relationship Type="http://schemas.openxmlformats.org/officeDocument/2006/relationships/notesMaster" Target="/ppt/notesMasters/notesMaster1.xml" Id="R0f4aa74d4f9040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a9872b343f4ef6" /><Relationship Type="http://schemas.openxmlformats.org/officeDocument/2006/relationships/notesMaster" Target="/ppt/notesMasters/notesMaster1.xml" Id="Rebd69716c65043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a959c607d445ec" /><Relationship Type="http://schemas.openxmlformats.org/officeDocument/2006/relationships/notesMaster" Target="/ppt/notesMasters/notesMaster1.xml" Id="R475295e5976449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fc202c4e234347" /><Relationship Type="http://schemas.openxmlformats.org/officeDocument/2006/relationships/notesMaster" Target="/ppt/notesMasters/notesMaster1.xml" Id="R0512b23227ff41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8211309a8d43d7" /><Relationship Type="http://schemas.openxmlformats.org/officeDocument/2006/relationships/notesMaster" Target="/ppt/notesMasters/notesMaster1.xml" Id="R2c3ea3c7e5794d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ba52f23cce43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555ff607e045e5" /><Relationship Type="http://schemas.openxmlformats.org/officeDocument/2006/relationships/slideLayout" Target="/ppt/slideLayouts/slideLayout1.xml" Id="Ra6838cb54ae041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838cb54ae041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6f305873940a7" /><Relationship Type="http://schemas.openxmlformats.org/officeDocument/2006/relationships/notesSlide" Target="/ppt/notesSlides/notesSlide1.xml" Id="R068f1e3cc5764a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f4bd2488a41ad" /><Relationship Type="http://schemas.openxmlformats.org/officeDocument/2006/relationships/notesSlide" Target="/ppt/notesSlides/notesSlide2.xml" Id="R6b6b2c4b05f740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f54222f8b4477" /><Relationship Type="http://schemas.openxmlformats.org/officeDocument/2006/relationships/notesSlide" Target="/ppt/notesSlides/notesSlide3.xml" Id="Re583ebf67ef84c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675a4bce046cb" /><Relationship Type="http://schemas.openxmlformats.org/officeDocument/2006/relationships/notesSlide" Target="/ppt/notesSlides/notesSlide4.xml" Id="R3b2819450c4f49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e567816b7440c" /><Relationship Type="http://schemas.openxmlformats.org/officeDocument/2006/relationships/notesSlide" Target="/ppt/notesSlides/notesSlide5.xml" Id="Rdea88a7968a54a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a5ccbd4cb4267" /><Relationship Type="http://schemas.openxmlformats.org/officeDocument/2006/relationships/notesSlide" Target="/ppt/notesSlides/notesSlide6.xml" Id="R985a7cf98ac04b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47e20a1ff4485" /><Relationship Type="http://schemas.openxmlformats.org/officeDocument/2006/relationships/notesSlide" Target="/ppt/notesSlides/notesSlide7.xml" Id="R1100499c731b4b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9f5ffc2724756" /><Relationship Type="http://schemas.openxmlformats.org/officeDocument/2006/relationships/notesSlide" Target="/ppt/notesSlides/notesSlide8.xml" Id="R72eebc33b22646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6a9c79d194f4b" /><Relationship Type="http://schemas.openxmlformats.org/officeDocument/2006/relationships/notesSlide" Target="/ppt/notesSlides/notesSlide9.xml" Id="R94f52958079743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c0098d6c04be2" /><Relationship Type="http://schemas.openxmlformats.org/officeDocument/2006/relationships/notesSlide" Target="/ppt/notesSlides/notesSlide10.xml" Id="R838acb5ef38a48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7dcc17f91468e" /><Relationship Type="http://schemas.openxmlformats.org/officeDocument/2006/relationships/notesSlide" Target="/ppt/notesSlides/notesSlide11.xml" Id="R46e6ab75e6f041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868CB855-096F-4EF0-ABB8-A0CF1427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3335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6B764491-2FB5-465D-8EFC-B246A033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906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C7BF"/>
                </a:solidFill>
              </a:defRPr>
            </a:pPr>
            <a:r>
              <a:rPr sz="1200" b="1">
                <a:solidFill>
                  <a:srgbClr val="B9C7BF"/>
                </a:solidFill>
              </a:rPr>
              <a:t>AI PRODUCT MANAGER · WORK SAMPLE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25FCD52-90B4-4272-887C-44595B09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52600"/>
            <a:ext cx="7810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把任务书变成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可交付的设计决策</a:t>
            </a:r>
          </a:p>
        </p:txBody>
      </p:sp>
      <p:sp>
        <p:nvSpPr>
          <p:cNvPr id="4" name="cover-sub">
            <a:extLst xmlns:a="http://schemas.openxmlformats.org/drawingml/2006/main">
              <a:ext uri="{FF2B5EF4-FFF2-40B4-BE49-F238E27FC236}">
                <a16:creationId xmlns:a16="http://schemas.microsoft.com/office/drawing/2014/main" id="{2066AC12-9598-4462-9C9A-FB81E3C0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481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D8E2DB"/>
                </a:solidFill>
              </a:defRPr>
            </a:pPr>
            <a:r>
              <a:rPr sz="1800">
                <a:solidFill>
                  <a:srgbClr val="D8E2DB"/>
                </a:solidFill>
              </a:rPr>
              <a:t>建筑设计汇报文本 Agent · 双管线生成式工作台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0FA8CF7A-9ED1-4536-9DE9-30A1FF93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05350"/>
            <a:ext cx="409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note">
            <a:extLst xmlns:a="http://schemas.openxmlformats.org/drawingml/2006/main">
              <a:ext uri="{FF2B5EF4-FFF2-40B4-BE49-F238E27FC236}">
                <a16:creationId xmlns:a16="http://schemas.microsoft.com/office/drawing/2014/main" id="{29481EE3-9D25-4C33-9C62-75399033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53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AAB8B0"/>
                </a:solidFill>
              </a:defRPr>
            </a:pPr>
            <a:r>
              <a:rPr sz="1350">
                <a:solidFill>
                  <a:srgbClr val="AAB8B0"/>
                </a:solidFill>
              </a:rPr>
              <a:t>不是生成一段话，而是把事实、方向、页面、图像与交付串成一条可检查、可修改、可恢复的产品链路。</a:t>
            </a:r>
          </a:p>
        </p:txBody>
      </p:sp>
      <p:sp>
        <p:nvSpPr>
          <p:cNvPr id="7" name="cover-mark">
            <a:extLst xmlns:a="http://schemas.openxmlformats.org/drawingml/2006/main">
              <a:ext uri="{FF2B5EF4-FFF2-40B4-BE49-F238E27FC236}">
                <a16:creationId xmlns:a16="http://schemas.microsoft.com/office/drawing/2014/main" id="{19296AD4-2777-4E65-B38E-5C25AB19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42925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4050" b="1">
                <a:solidFill>
                  <a:srgbClr val="D95D38"/>
                </a:solidFill>
              </a:defRPr>
            </a:pPr>
            <a:r>
              <a:rPr sz="4050" b="1">
                <a:solidFill>
                  <a:srgbClr val="D95D3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020847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age-2">
            <a:extLst xmlns:a="http://schemas.openxmlformats.org/drawingml/2006/main">
              <a:ext uri="{FF2B5EF4-FFF2-40B4-BE49-F238E27FC236}">
                <a16:creationId xmlns:a16="http://schemas.microsoft.com/office/drawing/2014/main" id="{E67032F5-C7EE-45D3-9914-C995FAFD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5D38"/>
                </a:solidFill>
              </a:defRPr>
            </a:pPr>
            <a:r>
              <a:rPr sz="1050" b="1">
                <a:solidFill>
                  <a:srgbClr val="D95D38"/>
                </a:solidFill>
              </a:rPr>
              <a:t>02</a:t>
            </a:r>
          </a:p>
        </p:txBody>
      </p:sp>
      <p:sp>
        <p:nvSpPr>
          <p:cNvPr id="2" name="kicker-2">
            <a:extLst xmlns:a="http://schemas.openxmlformats.org/drawingml/2006/main">
              <a:ext uri="{FF2B5EF4-FFF2-40B4-BE49-F238E27FC236}">
                <a16:creationId xmlns:a16="http://schemas.microsoft.com/office/drawing/2014/main" id="{B5B703B9-4932-4451-AC37-0CADF058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48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7972"/>
                </a:solidFill>
              </a:defRPr>
            </a:pPr>
            <a:r>
              <a:rPr sz="975" b="1">
                <a:solidFill>
                  <a:srgbClr val="6D7972"/>
                </a:solidFill>
              </a:rPr>
              <a:t>PROBLEM FRAMING</a:t>
            </a:r>
          </a:p>
        </p:txBody>
      </p:sp>
      <p:sp>
        <p:nvSpPr>
          <p:cNvPr id="3" name="section-2">
            <a:extLst xmlns:a="http://schemas.openxmlformats.org/drawingml/2006/main">
              <a:ext uri="{FF2B5EF4-FFF2-40B4-BE49-F238E27FC236}">
                <a16:creationId xmlns:a16="http://schemas.microsoft.com/office/drawing/2014/main" id="{9E381E5D-71EE-4529-A41C-F9E32231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D7972"/>
                </a:solidFill>
              </a:defRPr>
            </a:pPr>
            <a:r>
              <a:rPr sz="975">
                <a:solidFill>
                  <a:srgbClr val="6D7972"/>
                </a:solidFill>
              </a:rPr>
              <a:t>WHY NOW</a:t>
            </a:r>
          </a:p>
        </p:txBody>
      </p:sp>
      <p:sp>
        <p:nvSpPr>
          <p:cNvPr id="4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5E9BBA73-98CE-4122-BDE7-48B106F0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08D44374-89F3-44D8-8754-AB429AF5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1D"/>
                </a:solidFill>
              </a:defRPr>
            </a:pPr>
            <a:r>
              <a:rPr sz="3225" b="1">
                <a:solidFill>
                  <a:srgbClr val="17201D"/>
                </a:solidFill>
              </a:rPr>
              <a:t>建筑设计公司真正付出的是结构化返工</a:t>
            </a:r>
          </a:p>
        </p:txBody>
      </p:sp>
      <p:sp>
        <p:nvSpPr>
          <p:cNvPr id="6" name="problem-title-subtitle">
            <a:extLst xmlns:a="http://schemas.openxmlformats.org/drawingml/2006/main">
              <a:ext uri="{FF2B5EF4-FFF2-40B4-BE49-F238E27FC236}">
                <a16:creationId xmlns:a16="http://schemas.microsoft.com/office/drawing/2014/main" id="{15CBB961-8D87-417C-B62E-D8BEFEF6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6D7972"/>
                </a:solidFill>
              </a:defRPr>
            </a:pPr>
            <a:r>
              <a:rPr sz="1425">
                <a:solidFill>
                  <a:srgbClr val="6D7972"/>
                </a:solidFill>
              </a:rPr>
              <a:t>难点不是写一段文案，而是让一份高密度任务书稳定变成整套汇报。 </a:t>
            </a:r>
          </a:p>
        </p:txBody>
      </p:sp>
      <p:sp>
        <p:nvSpPr>
          <p:cNvPr id="7" name="cost-1-mark">
            <a:extLst xmlns:a="http://schemas.openxmlformats.org/drawingml/2006/main">
              <a:ext uri="{FF2B5EF4-FFF2-40B4-BE49-F238E27FC236}">
                <a16:creationId xmlns:a16="http://schemas.microsoft.com/office/drawing/2014/main" id="{E146BD46-181B-4A56-8D78-97A5AC7C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st-1-heading">
            <a:extLst xmlns:a="http://schemas.openxmlformats.org/drawingml/2006/main">
              <a:ext uri="{FF2B5EF4-FFF2-40B4-BE49-F238E27FC236}">
                <a16:creationId xmlns:a16="http://schemas.microsoft.com/office/drawing/2014/main" id="{99FE3B22-27D8-4D20-9BCD-6835C50A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D"/>
                </a:solidFill>
              </a:defRPr>
            </a:pPr>
            <a:r>
              <a:rPr sz="1650" b="1">
                <a:solidFill>
                  <a:srgbClr val="17201D"/>
                </a:solidFill>
              </a:rPr>
              <a:t>读懂并筛选</a:t>
            </a:r>
          </a:p>
        </p:txBody>
      </p:sp>
      <p:sp>
        <p:nvSpPr>
          <p:cNvPr id="9" name="cost-1-body">
            <a:extLst xmlns:a="http://schemas.openxmlformats.org/drawingml/2006/main">
              <a:ext uri="{FF2B5EF4-FFF2-40B4-BE49-F238E27FC236}">
                <a16:creationId xmlns:a16="http://schemas.microsoft.com/office/drawing/2014/main" id="{D2AECC03-FC33-4959-AE42-81F83367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D7972"/>
                </a:solidFill>
              </a:defRPr>
            </a:pPr>
            <a:r>
              <a:rPr sz="1275">
                <a:solidFill>
                  <a:srgbClr val="6D7972"/>
                </a:solidFill>
              </a:rPr>
              <a:t>面积、边界、功能、方向、交付条件分散在任务书不同位置。</a:t>
            </a:r>
          </a:p>
        </p:txBody>
      </p:sp>
      <p:sp>
        <p:nvSpPr>
          <p:cNvPr id="10" name="cost-2-mark">
            <a:extLst xmlns:a="http://schemas.openxmlformats.org/drawingml/2006/main">
              <a:ext uri="{FF2B5EF4-FFF2-40B4-BE49-F238E27FC236}">
                <a16:creationId xmlns:a16="http://schemas.microsoft.com/office/drawing/2014/main" id="{CBABE9EE-1FBB-41E0-AE71-9A54CD3A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9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st-2-heading">
            <a:extLst xmlns:a="http://schemas.openxmlformats.org/drawingml/2006/main">
              <a:ext uri="{FF2B5EF4-FFF2-40B4-BE49-F238E27FC236}">
                <a16:creationId xmlns:a16="http://schemas.microsoft.com/office/drawing/2014/main" id="{90A98834-1948-4A38-A285-57BFCE7C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D"/>
                </a:solidFill>
              </a:defRPr>
            </a:pPr>
            <a:r>
              <a:rPr sz="1650" b="1">
                <a:solidFill>
                  <a:srgbClr val="17201D"/>
                </a:solidFill>
              </a:rPr>
              <a:t>跨页保持一致</a:t>
            </a:r>
          </a:p>
        </p:txBody>
      </p:sp>
      <p:sp>
        <p:nvSpPr>
          <p:cNvPr id="12" name="cost-2-body">
            <a:extLst xmlns:a="http://schemas.openxmlformats.org/drawingml/2006/main">
              <a:ext uri="{FF2B5EF4-FFF2-40B4-BE49-F238E27FC236}">
                <a16:creationId xmlns:a16="http://schemas.microsoft.com/office/drawing/2014/main" id="{D4164ACE-4A1E-4897-A625-D2494996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D7972"/>
                </a:solidFill>
              </a:defRPr>
            </a:pPr>
            <a:r>
              <a:rPr sz="1275">
                <a:solidFill>
                  <a:srgbClr val="6D7972"/>
                </a:solidFill>
              </a:rPr>
              <a:t>方案名称、设计逻辑、图像标题和总结页经常互相漂移。</a:t>
            </a:r>
          </a:p>
        </p:txBody>
      </p:sp>
      <p:sp>
        <p:nvSpPr>
          <p:cNvPr id="13" name="cost-3-mark">
            <a:extLst xmlns:a="http://schemas.openxmlformats.org/drawingml/2006/main">
              <a:ext uri="{FF2B5EF4-FFF2-40B4-BE49-F238E27FC236}">
                <a16:creationId xmlns:a16="http://schemas.microsoft.com/office/drawing/2014/main" id="{AD91DD17-C30F-4523-BFAC-BE504592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st-3-heading">
            <a:extLst xmlns:a="http://schemas.openxmlformats.org/drawingml/2006/main">
              <a:ext uri="{FF2B5EF4-FFF2-40B4-BE49-F238E27FC236}">
                <a16:creationId xmlns:a16="http://schemas.microsoft.com/office/drawing/2014/main" id="{C9A1BA54-C520-4776-8691-F1C78193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D"/>
                </a:solidFill>
              </a:defRPr>
            </a:pPr>
            <a:r>
              <a:rPr sz="1650" b="1">
                <a:solidFill>
                  <a:srgbClr val="17201D"/>
                </a:solidFill>
              </a:rPr>
              <a:t>交付前反复返工</a:t>
            </a:r>
          </a:p>
        </p:txBody>
      </p:sp>
      <p:sp>
        <p:nvSpPr>
          <p:cNvPr id="15" name="cost-3-body">
            <a:extLst xmlns:a="http://schemas.openxmlformats.org/drawingml/2006/main">
              <a:ext uri="{FF2B5EF4-FFF2-40B4-BE49-F238E27FC236}">
                <a16:creationId xmlns:a16="http://schemas.microsoft.com/office/drawing/2014/main" id="{EC26EE91-8ECA-4D79-A218-6D37C56F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D7972"/>
                </a:solidFill>
              </a:defRPr>
            </a:pPr>
            <a:r>
              <a:rPr sz="1275">
                <a:solidFill>
                  <a:srgbClr val="6D7972"/>
                </a:solidFill>
              </a:rPr>
              <a:t>文本溢出、图片丢失、模型幻觉和导出不稳，都会回到人工修补。</a:t>
            </a:r>
          </a:p>
        </p:txBody>
      </p:sp>
      <p:sp>
        <p:nvSpPr>
          <p:cNvPr id="16" name="opportunity-surface">
            <a:extLst xmlns:a="http://schemas.openxmlformats.org/drawingml/2006/main">
              <a:ext uri="{FF2B5EF4-FFF2-40B4-BE49-F238E27FC236}">
                <a16:creationId xmlns:a16="http://schemas.microsoft.com/office/drawing/2014/main" id="{3DD959F9-3D1F-4DDA-9522-00C53F36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66950"/>
            <a:ext cx="55245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pportunity-label">
            <a:extLst xmlns:a="http://schemas.openxmlformats.org/drawingml/2006/main">
              <a:ext uri="{FF2B5EF4-FFF2-40B4-BE49-F238E27FC236}">
                <a16:creationId xmlns:a16="http://schemas.microsoft.com/office/drawing/2014/main" id="{E008A843-07D7-4861-8CD2-FA680D5A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D38"/>
                </a:solidFill>
              </a:defRPr>
            </a:pPr>
            <a:r>
              <a:rPr sz="975" b="1">
                <a:solidFill>
                  <a:srgbClr val="D95D38"/>
                </a:solidFill>
              </a:rPr>
              <a:t>PRODUCT OPPORTUNITY</a:t>
            </a:r>
          </a:p>
        </p:txBody>
      </p:sp>
      <p:sp>
        <p:nvSpPr>
          <p:cNvPr id="18" name="opportunity-title">
            <a:extLst xmlns:a="http://schemas.openxmlformats.org/drawingml/2006/main">
              <a:ext uri="{FF2B5EF4-FFF2-40B4-BE49-F238E27FC236}">
                <a16:creationId xmlns:a16="http://schemas.microsoft.com/office/drawing/2014/main" id="{859F6C36-80B6-4B93-B3C6-DB1B4B95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28950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把“任务书 → 汇报”</a:t>
            </a:r>
          </a:p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拆成可验证的中间产物</a:t>
            </a:r>
          </a:p>
        </p:txBody>
      </p:sp>
      <p:sp>
        <p:nvSpPr>
          <p:cNvPr id="19" name="opportunity-rule">
            <a:extLst xmlns:a="http://schemas.openxmlformats.org/drawingml/2006/main">
              <a:ext uri="{FF2B5EF4-FFF2-40B4-BE49-F238E27FC236}">
                <a16:creationId xmlns:a16="http://schemas.microsoft.com/office/drawing/2014/main" id="{92B1F67D-6900-41FF-A0DE-157131EB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pportunity-body">
            <a:extLst xmlns:a="http://schemas.openxmlformats.org/drawingml/2006/main">
              <a:ext uri="{FF2B5EF4-FFF2-40B4-BE49-F238E27FC236}">
                <a16:creationId xmlns:a16="http://schemas.microsoft.com/office/drawing/2014/main" id="{7E75E044-AAF2-4235-B8A7-A0D9A710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6245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D5E0D8"/>
                </a:solidFill>
              </a:defRPr>
            </a:pPr>
            <a:r>
              <a:rPr sz="1425">
                <a:solidFill>
                  <a:srgbClr val="D5E0D8"/>
                </a:solidFill>
              </a:rPr>
              <a:t>事实可追溯，方向可确认，页面可校验，图片可恢复，交付可编辑。</a:t>
            </a:r>
          </a:p>
        </p:txBody>
      </p:sp>
      <p:sp>
        <p:nvSpPr>
          <p:cNvPr id="21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BAC1C68F-42A0-4527-9D83-D9BB4BB5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2">
            <a:extLst xmlns:a="http://schemas.openxmlformats.org/drawingml/2006/main">
              <a:ext uri="{FF2B5EF4-FFF2-40B4-BE49-F238E27FC236}">
                <a16:creationId xmlns:a16="http://schemas.microsoft.com/office/drawing/2014/main" id="{0121CC65-74D8-4050-B941-EC8A4B46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7972"/>
                </a:solidFill>
              </a:defRPr>
            </a:pPr>
            <a:r>
              <a:rPr sz="825" b="1">
                <a:solidFill>
                  <a:srgbClr val="6D7972"/>
                </a:solidFill>
              </a:rPr>
              <a:t>AI PRODUCT MANAGER · ARCHITECTURAL REPORT AGENT</a:t>
            </a:r>
          </a:p>
        </p:txBody>
      </p:sp>
      <p:sp>
        <p:nvSpPr>
          <p:cNvPr id="23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71A97BC8-AB9A-45CB-94D3-2117C228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D7972"/>
                </a:solidFill>
              </a:defRPr>
            </a:pPr>
            <a:r>
              <a:rPr sz="825" b="1">
                <a:solidFill>
                  <a:srgbClr val="6D797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753200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page-3">
            <a:extLst xmlns:a="http://schemas.openxmlformats.org/drawingml/2006/main">
              <a:ext uri="{FF2B5EF4-FFF2-40B4-BE49-F238E27FC236}">
                <a16:creationId xmlns:a16="http://schemas.microsoft.com/office/drawing/2014/main" id="{E4CF3E28-01A1-400D-BCC8-A26E0F10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5D38"/>
                </a:solidFill>
              </a:defRPr>
            </a:pPr>
            <a:r>
              <a:rPr sz="1050" b="1">
                <a:solidFill>
                  <a:srgbClr val="D95D38"/>
                </a:solidFill>
              </a:rPr>
              <a:t>03</a:t>
            </a:r>
          </a:p>
        </p:txBody>
      </p:sp>
      <p:sp>
        <p:nvSpPr>
          <p:cNvPr id="2" name="kicker-3">
            <a:extLst xmlns:a="http://schemas.openxmlformats.org/drawingml/2006/main">
              <a:ext uri="{FF2B5EF4-FFF2-40B4-BE49-F238E27FC236}">
                <a16:creationId xmlns:a16="http://schemas.microsoft.com/office/drawing/2014/main" id="{66A8464A-A4E8-4A6C-BA37-5E0BAC8C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48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7972"/>
                </a:solidFill>
              </a:defRPr>
            </a:pPr>
            <a:r>
              <a:rPr sz="975" b="1">
                <a:solidFill>
                  <a:srgbClr val="6D7972"/>
                </a:solidFill>
              </a:rPr>
              <a:t>INFORMATION ARCHITECTURE</a:t>
            </a:r>
          </a:p>
        </p:txBody>
      </p:sp>
      <p:sp>
        <p:nvSpPr>
          <p:cNvPr id="3" name="section-3">
            <a:extLst xmlns:a="http://schemas.openxmlformats.org/drawingml/2006/main">
              <a:ext uri="{FF2B5EF4-FFF2-40B4-BE49-F238E27FC236}">
                <a16:creationId xmlns:a16="http://schemas.microsoft.com/office/drawing/2014/main" id="{5A1CA67E-ED75-45F0-AC9F-B2F693E0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D7972"/>
                </a:solidFill>
              </a:defRPr>
            </a:pPr>
            <a:r>
              <a:rPr sz="975">
                <a:solidFill>
                  <a:srgbClr val="6D7972"/>
                </a:solidFill>
              </a:rPr>
              <a:t>SYSTEM</a:t>
            </a:r>
          </a:p>
        </p:txBody>
      </p:sp>
      <p:sp>
        <p:nvSpPr>
          <p:cNvPr id="4" name="header-rule-3">
            <a:extLst xmlns:a="http://schemas.openxmlformats.org/drawingml/2006/main">
              <a:ext uri="{FF2B5EF4-FFF2-40B4-BE49-F238E27FC236}">
                <a16:creationId xmlns:a16="http://schemas.microsoft.com/office/drawing/2014/main" id="{59F93561-CB97-4740-A965-5CBDBA33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24010432-50C3-4E62-B54E-FE6F8B6C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1D"/>
                </a:solidFill>
              </a:defRPr>
            </a:pPr>
            <a:r>
              <a:rPr sz="3225" b="1">
                <a:solidFill>
                  <a:srgbClr val="17201D"/>
                </a:solidFill>
              </a:rPr>
              <a:t>从一份任务书到一套 PPT：每一层都可追溯</a:t>
            </a:r>
          </a:p>
        </p:txBody>
      </p:sp>
      <p:sp>
        <p:nvSpPr>
          <p:cNvPr id="6" name="architecture-title-subtitle">
            <a:extLst xmlns:a="http://schemas.openxmlformats.org/drawingml/2006/main">
              <a:ext uri="{FF2B5EF4-FFF2-40B4-BE49-F238E27FC236}">
                <a16:creationId xmlns:a16="http://schemas.microsoft.com/office/drawing/2014/main" id="{69A73B06-9D9C-4449-9DD1-2E66CAA8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6D7972"/>
                </a:solidFill>
              </a:defRPr>
            </a:pPr>
            <a:r>
              <a:rPr sz="1425">
                <a:solidFill>
                  <a:srgbClr val="6D7972"/>
                </a:solidFill>
              </a:rPr>
              <a:t>给不懂建筑的人看的解释：Agent 不是直接跳到页面，而是逐层把不确定性压缩掉。</a:t>
            </a:r>
          </a:p>
        </p:txBody>
      </p:sp>
      <p:sp>
        <p:nvSpPr>
          <p:cNvPr id="7" name="brief-surface">
            <a:extLst xmlns:a="http://schemas.openxmlformats.org/drawingml/2006/main">
              <a:ext uri="{FF2B5EF4-FFF2-40B4-BE49-F238E27FC236}">
                <a16:creationId xmlns:a16="http://schemas.microsoft.com/office/drawing/2014/main" id="{6AAB86EE-1964-4095-AC8E-602320BD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866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CE"/>
          </a:solidFill>
          <a:ln xmlns:a="http://schemas.openxmlformats.org/drawingml/2006/main" w="9525">
            <a:solidFill>
              <a:srgbClr val="C7D0CA"/>
            </a:solidFill>
            <a:prstDash val="solid"/>
          </a:ln>
        </p:spPr>
      </p:sp>
      <p:sp>
        <p:nvSpPr>
          <p:cNvPr id="8" name="brief-heading">
            <a:extLst xmlns:a="http://schemas.openxmlformats.org/drawingml/2006/main">
              <a:ext uri="{FF2B5EF4-FFF2-40B4-BE49-F238E27FC236}">
                <a16:creationId xmlns:a16="http://schemas.microsoft.com/office/drawing/2014/main" id="{B147398B-E930-468E-A1D0-8513F2DA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D"/>
                </a:solidFill>
              </a:defRPr>
            </a:pPr>
            <a:r>
              <a:rPr sz="1650" b="1">
                <a:solidFill>
                  <a:srgbClr val="17201D"/>
                </a:solidFill>
              </a:rPr>
              <a:t>任务书</a:t>
            </a:r>
          </a:p>
        </p:txBody>
      </p:sp>
      <p:sp>
        <p:nvSpPr>
          <p:cNvPr id="9" name="brief-body">
            <a:extLst xmlns:a="http://schemas.openxmlformats.org/drawingml/2006/main">
              <a:ext uri="{FF2B5EF4-FFF2-40B4-BE49-F238E27FC236}">
                <a16:creationId xmlns:a16="http://schemas.microsoft.com/office/drawing/2014/main" id="{40D2AB78-81C0-479D-94B9-0281CD8F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D7972"/>
                </a:solidFill>
              </a:defRPr>
            </a:pPr>
            <a:r>
              <a:rPr sz="1200">
                <a:solidFill>
                  <a:srgbClr val="6D7972"/>
                </a:solidFill>
              </a:rPr>
              <a:t>原文、页码、文件角色</a:t>
            </a:r>
          </a:p>
        </p:txBody>
      </p:sp>
      <p:sp>
        <p:nvSpPr>
          <p:cNvPr id="10" name="arch-arrow-0-line">
            <a:extLst xmlns:a="http://schemas.openxmlformats.org/drawingml/2006/main">
              <a:ext uri="{FF2B5EF4-FFF2-40B4-BE49-F238E27FC236}">
                <a16:creationId xmlns:a16="http://schemas.microsoft.com/office/drawing/2014/main" id="{7A857656-BED0-4C2B-86BF-FDDB6B47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295650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rch-arrow-0-head">
            <a:extLst xmlns:a="http://schemas.openxmlformats.org/drawingml/2006/main">
              <a:ext uri="{FF2B5EF4-FFF2-40B4-BE49-F238E27FC236}">
                <a16:creationId xmlns:a16="http://schemas.microsoft.com/office/drawing/2014/main" id="{E418DE38-D68C-4EFD-8FDF-2FCE5C47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248025"/>
            <a:ext cx="171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acts-surface">
            <a:extLst xmlns:a="http://schemas.openxmlformats.org/drawingml/2006/main">
              <a:ext uri="{FF2B5EF4-FFF2-40B4-BE49-F238E27FC236}">
                <a16:creationId xmlns:a16="http://schemas.microsoft.com/office/drawing/2014/main" id="{097A4974-BB54-48B3-9F08-1ADFF840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28900"/>
            <a:ext cx="1866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F"/>
          </a:solidFill>
          <a:ln xmlns:a="http://schemas.openxmlformats.org/drawingml/2006/main" w="9525">
            <a:solidFill>
              <a:srgbClr val="C7D0CA"/>
            </a:solidFill>
            <a:prstDash val="solid"/>
          </a:ln>
        </p:spPr>
      </p:sp>
      <p:sp>
        <p:nvSpPr>
          <p:cNvPr id="13" name="facts-heading">
            <a:extLst xmlns:a="http://schemas.openxmlformats.org/drawingml/2006/main">
              <a:ext uri="{FF2B5EF4-FFF2-40B4-BE49-F238E27FC236}">
                <a16:creationId xmlns:a16="http://schemas.microsoft.com/office/drawing/2014/main" id="{8EBB49A4-2044-46B8-B66A-00E3C4BE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622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D"/>
                </a:solidFill>
              </a:defRPr>
            </a:pPr>
            <a:r>
              <a:rPr sz="1650" b="1">
                <a:solidFill>
                  <a:srgbClr val="17201D"/>
                </a:solidFill>
              </a:rPr>
              <a:t>项目事实</a:t>
            </a:r>
          </a:p>
        </p:txBody>
      </p:sp>
      <p:sp>
        <p:nvSpPr>
          <p:cNvPr id="14" name="facts-body">
            <a:extLst xmlns:a="http://schemas.openxmlformats.org/drawingml/2006/main">
              <a:ext uri="{FF2B5EF4-FFF2-40B4-BE49-F238E27FC236}">
                <a16:creationId xmlns:a16="http://schemas.microsoft.com/office/drawing/2014/main" id="{9B761EEB-F12A-43D6-9B3B-9E7644AB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62300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D7972"/>
                </a:solidFill>
              </a:defRPr>
            </a:pPr>
            <a:r>
              <a:rPr sz="1200">
                <a:solidFill>
                  <a:srgbClr val="6D7972"/>
                </a:solidFill>
              </a:rPr>
              <a:t>字段、引用、冲突、确认状态</a:t>
            </a:r>
          </a:p>
        </p:txBody>
      </p:sp>
      <p:sp>
        <p:nvSpPr>
          <p:cNvPr id="15" name="arch-arrow-1-line">
            <a:extLst xmlns:a="http://schemas.openxmlformats.org/drawingml/2006/main">
              <a:ext uri="{FF2B5EF4-FFF2-40B4-BE49-F238E27FC236}">
                <a16:creationId xmlns:a16="http://schemas.microsoft.com/office/drawing/2014/main" id="{19079104-4A10-4A1A-9ED2-92A37622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295650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9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rch-arrow-1-head">
            <a:extLst xmlns:a="http://schemas.openxmlformats.org/drawingml/2006/main">
              <a:ext uri="{FF2B5EF4-FFF2-40B4-BE49-F238E27FC236}">
                <a16:creationId xmlns:a16="http://schemas.microsoft.com/office/drawing/2014/main" id="{BED71CDE-4EA4-42F6-91E0-43C755ED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248025"/>
            <a:ext cx="171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9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irections-surface">
            <a:extLst xmlns:a="http://schemas.openxmlformats.org/drawingml/2006/main">
              <a:ext uri="{FF2B5EF4-FFF2-40B4-BE49-F238E27FC236}">
                <a16:creationId xmlns:a16="http://schemas.microsoft.com/office/drawing/2014/main" id="{CDF05C6F-88EB-4DD7-87E4-5B25844F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28900"/>
            <a:ext cx="1866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1"/>
          </a:solidFill>
          <a:ln xmlns:a="http://schemas.openxmlformats.org/drawingml/2006/main" w="9525">
            <a:solidFill>
              <a:srgbClr val="C7D0CA"/>
            </a:solidFill>
            <a:prstDash val="solid"/>
          </a:ln>
        </p:spPr>
      </p:sp>
      <p:sp>
        <p:nvSpPr>
          <p:cNvPr id="18" name="directions-heading">
            <a:extLst xmlns:a="http://schemas.openxmlformats.org/drawingml/2006/main">
              <a:ext uri="{FF2B5EF4-FFF2-40B4-BE49-F238E27FC236}">
                <a16:creationId xmlns:a16="http://schemas.microsoft.com/office/drawing/2014/main" id="{E332F2F4-200A-4E63-9821-0DDAC4EC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622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D"/>
                </a:solidFill>
              </a:defRPr>
            </a:pPr>
            <a:r>
              <a:rPr sz="1650" b="1">
                <a:solidFill>
                  <a:srgbClr val="17201D"/>
                </a:solidFill>
              </a:rPr>
              <a:t>设计方向</a:t>
            </a:r>
          </a:p>
        </p:txBody>
      </p:sp>
      <p:sp>
        <p:nvSpPr>
          <p:cNvPr id="19" name="directions-body">
            <a:extLst xmlns:a="http://schemas.openxmlformats.org/drawingml/2006/main">
              <a:ext uri="{FF2B5EF4-FFF2-40B4-BE49-F238E27FC236}">
                <a16:creationId xmlns:a16="http://schemas.microsoft.com/office/drawing/2014/main" id="{C7938591-C208-4ECD-B2E4-5AF9F044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62300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D7972"/>
                </a:solidFill>
              </a:defRPr>
            </a:pPr>
            <a:r>
              <a:rPr sz="1200">
                <a:solidFill>
                  <a:srgbClr val="6D7972"/>
                </a:solidFill>
              </a:rPr>
              <a:t>任务书方向 / 用户确认提案</a:t>
            </a:r>
          </a:p>
        </p:txBody>
      </p:sp>
      <p:sp>
        <p:nvSpPr>
          <p:cNvPr id="20" name="arch-arrow-2-line">
            <a:extLst xmlns:a="http://schemas.openxmlformats.org/drawingml/2006/main">
              <a:ext uri="{FF2B5EF4-FFF2-40B4-BE49-F238E27FC236}">
                <a16:creationId xmlns:a16="http://schemas.microsoft.com/office/drawing/2014/main" id="{997941CD-796F-4821-B382-17C8BD0D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295650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rch-arrow-2-head">
            <a:extLst xmlns:a="http://schemas.openxmlformats.org/drawingml/2006/main">
              <a:ext uri="{FF2B5EF4-FFF2-40B4-BE49-F238E27FC236}">
                <a16:creationId xmlns:a16="http://schemas.microsoft.com/office/drawing/2014/main" id="{5C78FF07-A414-47E1-85DE-FB8CC6DA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48025"/>
            <a:ext cx="171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gegraph-surface">
            <a:extLst xmlns:a="http://schemas.openxmlformats.org/drawingml/2006/main">
              <a:ext uri="{FF2B5EF4-FFF2-40B4-BE49-F238E27FC236}">
                <a16:creationId xmlns:a16="http://schemas.microsoft.com/office/drawing/2014/main" id="{8650C004-7B84-42B8-9612-AE804C8A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28900"/>
            <a:ext cx="1866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E9"/>
          </a:solidFill>
          <a:ln xmlns:a="http://schemas.openxmlformats.org/drawingml/2006/main" w="9525">
            <a:solidFill>
              <a:srgbClr val="C7D0CA"/>
            </a:solidFill>
            <a:prstDash val="solid"/>
          </a:ln>
        </p:spPr>
      </p:sp>
      <p:sp>
        <p:nvSpPr>
          <p:cNvPr id="23" name="pagegraph-heading">
            <a:extLst xmlns:a="http://schemas.openxmlformats.org/drawingml/2006/main">
              <a:ext uri="{FF2B5EF4-FFF2-40B4-BE49-F238E27FC236}">
                <a16:creationId xmlns:a16="http://schemas.microsoft.com/office/drawing/2014/main" id="{74C86A77-F993-4E50-97AE-9BC1FA98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622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D"/>
                </a:solidFill>
              </a:defRPr>
            </a:pPr>
            <a:r>
              <a:rPr sz="1650" b="1">
                <a:solidFill>
                  <a:srgbClr val="17201D"/>
                </a:solidFill>
              </a:rPr>
              <a:t>页面架构</a:t>
            </a:r>
          </a:p>
        </p:txBody>
      </p:sp>
      <p:sp>
        <p:nvSpPr>
          <p:cNvPr id="24" name="pagegraph-body">
            <a:extLst xmlns:a="http://schemas.openxmlformats.org/drawingml/2006/main">
              <a:ext uri="{FF2B5EF4-FFF2-40B4-BE49-F238E27FC236}">
                <a16:creationId xmlns:a16="http://schemas.microsoft.com/office/drawing/2014/main" id="{A3997635-F3BF-4B7B-AC90-2CA1B62D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62300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D7972"/>
                </a:solidFill>
              </a:defRPr>
            </a:pPr>
            <a:r>
              <a:rPr sz="1200">
                <a:solidFill>
                  <a:srgbClr val="6D7972"/>
                </a:solidFill>
              </a:rPr>
              <a:t>页面角色、方案身份、证据关系</a:t>
            </a:r>
          </a:p>
        </p:txBody>
      </p:sp>
      <p:sp>
        <p:nvSpPr>
          <p:cNvPr id="25" name="arch-arrow-3-line">
            <a:extLst xmlns:a="http://schemas.openxmlformats.org/drawingml/2006/main">
              <a:ext uri="{FF2B5EF4-FFF2-40B4-BE49-F238E27FC236}">
                <a16:creationId xmlns:a16="http://schemas.microsoft.com/office/drawing/2014/main" id="{16A89F58-3FC1-4FBB-B58D-4FB11C50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295650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rch-arrow-3-head">
            <a:extLst xmlns:a="http://schemas.openxmlformats.org/drawingml/2006/main">
              <a:ext uri="{FF2B5EF4-FFF2-40B4-BE49-F238E27FC236}">
                <a16:creationId xmlns:a16="http://schemas.microsoft.com/office/drawing/2014/main" id="{A1FEA735-4916-45C5-BC47-27692BCE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248025"/>
            <a:ext cx="171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assets-surface">
            <a:extLst xmlns:a="http://schemas.openxmlformats.org/drawingml/2006/main">
              <a:ext uri="{FF2B5EF4-FFF2-40B4-BE49-F238E27FC236}">
                <a16:creationId xmlns:a16="http://schemas.microsoft.com/office/drawing/2014/main" id="{AAEC3D07-5102-40FF-BCE7-581A725D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28900"/>
            <a:ext cx="1866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E9"/>
          </a:solidFill>
          <a:ln xmlns:a="http://schemas.openxmlformats.org/drawingml/2006/main" w="9525">
            <a:solidFill>
              <a:srgbClr val="C7D0CA"/>
            </a:solidFill>
            <a:prstDash val="solid"/>
          </a:ln>
        </p:spPr>
      </p:sp>
      <p:sp>
        <p:nvSpPr>
          <p:cNvPr id="28" name="assets-heading">
            <a:extLst xmlns:a="http://schemas.openxmlformats.org/drawingml/2006/main">
              <a:ext uri="{FF2B5EF4-FFF2-40B4-BE49-F238E27FC236}">
                <a16:creationId xmlns:a16="http://schemas.microsoft.com/office/drawing/2014/main" id="{25C78995-5B84-4A4E-B382-F6C3C66E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622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D"/>
                </a:solidFill>
              </a:defRPr>
            </a:pPr>
            <a:r>
              <a:rPr sz="1650" b="1">
                <a:solidFill>
                  <a:srgbClr val="17201D"/>
                </a:solidFill>
              </a:rPr>
              <a:t>视觉与交付</a:t>
            </a:r>
          </a:p>
        </p:txBody>
      </p:sp>
      <p:sp>
        <p:nvSpPr>
          <p:cNvPr id="29" name="assets-body">
            <a:extLst xmlns:a="http://schemas.openxmlformats.org/drawingml/2006/main">
              <a:ext uri="{FF2B5EF4-FFF2-40B4-BE49-F238E27FC236}">
                <a16:creationId xmlns:a16="http://schemas.microsoft.com/office/drawing/2014/main" id="{F7B0227D-DC1A-463D-B3F8-3D80A8E8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62300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D7972"/>
                </a:solidFill>
              </a:defRPr>
            </a:pPr>
            <a:r>
              <a:rPr sz="1200">
                <a:solidFill>
                  <a:srgbClr val="6D7972"/>
                </a:solidFill>
              </a:rPr>
              <a:t>图框任务、图片资产、PDF / PPTX</a:t>
            </a:r>
          </a:p>
        </p:txBody>
      </p:sp>
      <p:sp>
        <p:nvSpPr>
          <p:cNvPr id="30" name="arch-source-rule">
            <a:extLst xmlns:a="http://schemas.openxmlformats.org/drawingml/2006/main">
              <a:ext uri="{FF2B5EF4-FFF2-40B4-BE49-F238E27FC236}">
                <a16:creationId xmlns:a16="http://schemas.microsoft.com/office/drawing/2014/main" id="{F13D5DBE-A7D9-47F6-BEC5-310FF707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arch-source-label">
            <a:extLst xmlns:a="http://schemas.openxmlformats.org/drawingml/2006/main">
              <a:ext uri="{FF2B5EF4-FFF2-40B4-BE49-F238E27FC236}">
                <a16:creationId xmlns:a16="http://schemas.microsoft.com/office/drawing/2014/main" id="{9FAF1582-0E45-4610-A969-4985A868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1D"/>
                </a:solidFill>
              </a:defRPr>
            </a:pPr>
            <a:r>
              <a:rPr sz="1500" b="1">
                <a:solidFill>
                  <a:srgbClr val="17201D"/>
                </a:solidFill>
              </a:rPr>
              <a:t>边界规则</a:t>
            </a:r>
          </a:p>
        </p:txBody>
      </p:sp>
      <p:sp>
        <p:nvSpPr>
          <p:cNvPr id="32" name="arch-source-body">
            <a:extLst xmlns:a="http://schemas.openxmlformats.org/drawingml/2006/main">
              <a:ext uri="{FF2B5EF4-FFF2-40B4-BE49-F238E27FC236}">
                <a16:creationId xmlns:a16="http://schemas.microsoft.com/office/drawing/2014/main" id="{A73F4ED9-FA2E-4E8C-860E-5BE58AC3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10125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D7972"/>
                </a:solidFill>
              </a:defRPr>
            </a:pPr>
            <a:r>
              <a:rPr sz="1350">
                <a:solidFill>
                  <a:srgbClr val="6D7972"/>
                </a:solidFill>
              </a:rPr>
              <a:t>当前项目事实、历史参考和公司信息三块隔离；只有带来源页码与原文引用的数字和结论，才能进入最终文案。</a:t>
            </a:r>
          </a:p>
        </p:txBody>
      </p:sp>
      <p:sp>
        <p:nvSpPr>
          <p:cNvPr id="3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C4DFBCFA-AED0-49F9-85A6-236EFC66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ooter-3">
            <a:extLst xmlns:a="http://schemas.openxmlformats.org/drawingml/2006/main">
              <a:ext uri="{FF2B5EF4-FFF2-40B4-BE49-F238E27FC236}">
                <a16:creationId xmlns:a16="http://schemas.microsoft.com/office/drawing/2014/main" id="{DC19328E-BB02-4C03-86CF-33CD0F7A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7972"/>
                </a:solidFill>
              </a:defRPr>
            </a:pPr>
            <a:r>
              <a:rPr sz="825" b="1">
                <a:solidFill>
                  <a:srgbClr val="6D7972"/>
                </a:solidFill>
              </a:rPr>
              <a:t>AI PRODUCT MANAGER · ARCHITECTURAL REPORT AGENT</a:t>
            </a:r>
          </a:p>
        </p:txBody>
      </p:sp>
      <p:sp>
        <p:nvSpPr>
          <p:cNvPr id="35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CDADECDA-5EE9-4639-97E8-D667CE5C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D7972"/>
                </a:solidFill>
              </a:defRPr>
            </a:pPr>
            <a:r>
              <a:rPr sz="825" b="1">
                <a:solidFill>
                  <a:srgbClr val="6D797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600195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2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4">
            <a:extLst xmlns:a="http://schemas.openxmlformats.org/drawingml/2006/main">
              <a:ext uri="{FF2B5EF4-FFF2-40B4-BE49-F238E27FC236}">
                <a16:creationId xmlns:a16="http://schemas.microsoft.com/office/drawing/2014/main" id="{BB59F060-72B1-4204-90D7-88FC869B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5D38"/>
                </a:solidFill>
              </a:defRPr>
            </a:pPr>
            <a:r>
              <a:rPr sz="1050" b="1">
                <a:solidFill>
                  <a:srgbClr val="D95D38"/>
                </a:solidFill>
              </a:rPr>
              <a:t>04</a:t>
            </a:r>
          </a:p>
        </p:txBody>
      </p:sp>
      <p:sp>
        <p:nvSpPr>
          <p:cNvPr id="2" name="kicker-4">
            <a:extLst xmlns:a="http://schemas.openxmlformats.org/drawingml/2006/main">
              <a:ext uri="{FF2B5EF4-FFF2-40B4-BE49-F238E27FC236}">
                <a16:creationId xmlns:a16="http://schemas.microsoft.com/office/drawing/2014/main" id="{5705E233-12BA-4ECB-A519-CEF3606F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48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C7BF"/>
                </a:solidFill>
              </a:defRPr>
            </a:pPr>
            <a:r>
              <a:rPr sz="975" b="1">
                <a:solidFill>
                  <a:srgbClr val="B9C7BF"/>
                </a:solidFill>
              </a:rPr>
              <a:t>PRODUCT STRATEGY</a:t>
            </a:r>
          </a:p>
        </p:txBody>
      </p:sp>
      <p:sp>
        <p:nvSpPr>
          <p:cNvPr id="3" name="section-4">
            <a:extLst xmlns:a="http://schemas.openxmlformats.org/drawingml/2006/main">
              <a:ext uri="{FF2B5EF4-FFF2-40B4-BE49-F238E27FC236}">
                <a16:creationId xmlns:a16="http://schemas.microsoft.com/office/drawing/2014/main" id="{6C0DD7C4-A60F-4AC4-88A9-FA53B24E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B9C7BF"/>
                </a:solidFill>
              </a:defRPr>
            </a:pPr>
            <a:r>
              <a:rPr sz="975">
                <a:solidFill>
                  <a:srgbClr val="B9C7BF"/>
                </a:solidFill>
              </a:rPr>
              <a:t>TWO PIPELINES</a:t>
            </a:r>
          </a:p>
        </p:txBody>
      </p:sp>
      <p:sp>
        <p:nvSpPr>
          <p:cNvPr id="4" name="header-rule-4">
            <a:extLst xmlns:a="http://schemas.openxmlformats.org/drawingml/2006/main">
              <a:ext uri="{FF2B5EF4-FFF2-40B4-BE49-F238E27FC236}">
                <a16:creationId xmlns:a16="http://schemas.microsoft.com/office/drawing/2014/main" id="{9B77441D-1409-4454-B5FC-EF6446E8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2662049C-A317-4008-BF0E-136CBC73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两条管线不是两个入口，而是两种决策模型</a:t>
            </a:r>
          </a:p>
        </p:txBody>
      </p:sp>
      <p:sp>
        <p:nvSpPr>
          <p:cNvPr id="6" name="pipeline-title-subtitle">
            <a:extLst xmlns:a="http://schemas.openxmlformats.org/drawingml/2006/main">
              <a:ext uri="{FF2B5EF4-FFF2-40B4-BE49-F238E27FC236}">
                <a16:creationId xmlns:a16="http://schemas.microsoft.com/office/drawing/2014/main" id="{70A21A3D-D9FC-41FF-9CED-46FD4D6F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D3DFD7"/>
                </a:solidFill>
              </a:defRPr>
            </a:pPr>
            <a:r>
              <a:rPr sz="1500">
                <a:solidFill>
                  <a:srgbClr val="D3DFD7"/>
                </a:solidFill>
              </a:rPr>
              <a:t>任务规范性不同，决定信息深度、交互成本和生成策略必须不同。</a:t>
            </a:r>
          </a:p>
        </p:txBody>
      </p:sp>
      <p:sp>
        <p:nvSpPr>
          <p:cNvPr id="7" name="large-lane">
            <a:extLst xmlns:a="http://schemas.openxmlformats.org/drawingml/2006/main">
              <a:ext uri="{FF2B5EF4-FFF2-40B4-BE49-F238E27FC236}">
                <a16:creationId xmlns:a16="http://schemas.microsoft.com/office/drawing/2014/main" id="{B75B746F-189A-408F-8656-E6835190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50673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arge-lane-label">
            <a:extLst xmlns:a="http://schemas.openxmlformats.org/drawingml/2006/main">
              <a:ext uri="{FF2B5EF4-FFF2-40B4-BE49-F238E27FC236}">
                <a16:creationId xmlns:a16="http://schemas.microsoft.com/office/drawing/2014/main" id="{7F4D052E-F86C-4B05-B0C9-A888744D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8DF"/>
                </a:solidFill>
              </a:defRPr>
            </a:pPr>
            <a:r>
              <a:rPr sz="975" b="1">
                <a:solidFill>
                  <a:srgbClr val="DDE8DF"/>
                </a:solidFill>
              </a:rPr>
              <a:t>PIPELINE A</a:t>
            </a:r>
          </a:p>
        </p:txBody>
      </p:sp>
      <p:sp>
        <p:nvSpPr>
          <p:cNvPr id="9" name="large-lane-title">
            <a:extLst xmlns:a="http://schemas.openxmlformats.org/drawingml/2006/main">
              <a:ext uri="{FF2B5EF4-FFF2-40B4-BE49-F238E27FC236}">
                <a16:creationId xmlns:a16="http://schemas.microsoft.com/office/drawing/2014/main" id="{2CFBB1AD-0EA0-4972-8242-68F9B4EA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大型公共建筑</a:t>
            </a:r>
          </a:p>
        </p:txBody>
      </p:sp>
      <p:sp>
        <p:nvSpPr>
          <p:cNvPr id="10" name="large-lane-body">
            <a:extLst xmlns:a="http://schemas.openxmlformats.org/drawingml/2006/main">
              <a:ext uri="{FF2B5EF4-FFF2-40B4-BE49-F238E27FC236}">
                <a16:creationId xmlns:a16="http://schemas.microsoft.com/office/drawing/2014/main" id="{B73DB32B-6D46-4863-8562-BC7622D5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577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9D8CF"/>
                </a:solidFill>
              </a:defRPr>
            </a:pPr>
            <a:r>
              <a:rPr sz="1275">
                <a:solidFill>
                  <a:srgbClr val="C9D8CF"/>
                </a:solidFill>
              </a:rPr>
              <a:t>任务书通常明确面积、场地边界、功能与专业交付。</a:t>
            </a:r>
          </a:p>
          <a:p xmlns:a="http://schemas.openxmlformats.org/drawingml/2006/main">
            <a:pPr algn="l">
              <a:defRPr sz="1275">
                <a:solidFill>
                  <a:srgbClr val="C9D8CF"/>
                </a:solidFill>
              </a:defRPr>
            </a:pPr>
            <a:r>
              <a:rPr sz="1275">
                <a:solidFill>
                  <a:srgbClr val="C9D8CF"/>
                </a:solidFill>
              </a:rPr>
              <a:t>因此需要场地分析、提案确认和完整章节链路。</a:t>
            </a:r>
          </a:p>
        </p:txBody>
      </p:sp>
      <p:sp>
        <p:nvSpPr>
          <p:cNvPr id="11" name="small-lane">
            <a:extLst xmlns:a="http://schemas.openxmlformats.org/drawingml/2006/main">
              <a:ext uri="{FF2B5EF4-FFF2-40B4-BE49-F238E27FC236}">
                <a16:creationId xmlns:a16="http://schemas.microsoft.com/office/drawing/2014/main" id="{A0F74FB8-C8F2-4FDD-8A3F-87F43702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90900"/>
            <a:ext cx="50673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30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mall-lane-label">
            <a:extLst xmlns:a="http://schemas.openxmlformats.org/drawingml/2006/main">
              <a:ext uri="{FF2B5EF4-FFF2-40B4-BE49-F238E27FC236}">
                <a16:creationId xmlns:a16="http://schemas.microsoft.com/office/drawing/2014/main" id="{86350806-2C77-404E-B264-9D7003D3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38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D7CE"/>
                </a:solidFill>
              </a:defRPr>
            </a:pPr>
            <a:r>
              <a:rPr sz="975" b="1">
                <a:solidFill>
                  <a:srgbClr val="F0D7CE"/>
                </a:solidFill>
              </a:rPr>
              <a:t>PIPELINE B</a:t>
            </a:r>
          </a:p>
        </p:txBody>
      </p:sp>
      <p:sp>
        <p:nvSpPr>
          <p:cNvPr id="13" name="small-lane-title">
            <a:extLst xmlns:a="http://schemas.openxmlformats.org/drawingml/2006/main">
              <a:ext uri="{FF2B5EF4-FFF2-40B4-BE49-F238E27FC236}">
                <a16:creationId xmlns:a16="http://schemas.microsoft.com/office/drawing/2014/main" id="{C14F2C41-BCFF-410F-8820-0914F032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005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小型建筑 / 装置</a:t>
            </a:r>
          </a:p>
        </p:txBody>
      </p:sp>
      <p:sp>
        <p:nvSpPr>
          <p:cNvPr id="14" name="small-lane-body">
            <a:extLst xmlns:a="http://schemas.openxmlformats.org/drawingml/2006/main">
              <a:ext uri="{FF2B5EF4-FFF2-40B4-BE49-F238E27FC236}">
                <a16:creationId xmlns:a16="http://schemas.microsoft.com/office/drawing/2014/main" id="{EF4C1872-7EC6-46BA-97D3-94376436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577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E7D2CA"/>
                </a:solidFill>
              </a:defRPr>
            </a:pPr>
            <a:r>
              <a:rPr sz="1275">
                <a:solidFill>
                  <a:srgbClr val="E7D2CA"/>
                </a:solidFill>
              </a:rPr>
              <a:t>任务书可能直接给出方向，也可能只给创作事实。</a:t>
            </a:r>
          </a:p>
          <a:p xmlns:a="http://schemas.openxmlformats.org/drawingml/2006/main">
            <a:pPr algn="l">
              <a:defRPr sz="1275">
                <a:solidFill>
                  <a:srgbClr val="E7D2CA"/>
                </a:solidFill>
              </a:defRPr>
            </a:pPr>
            <a:r>
              <a:rPr sz="1275">
                <a:solidFill>
                  <a:srgbClr val="E7D2CA"/>
                </a:solidFill>
              </a:rPr>
              <a:t>因此轻量化提案，保留创意多样性，再用可建造性约束收敛。</a:t>
            </a:r>
          </a:p>
        </p:txBody>
      </p:sp>
      <p:sp>
        <p:nvSpPr>
          <p:cNvPr id="15" name="pipeline-logic">
            <a:extLst xmlns:a="http://schemas.openxmlformats.org/drawingml/2006/main">
              <a:ext uri="{FF2B5EF4-FFF2-40B4-BE49-F238E27FC236}">
                <a16:creationId xmlns:a16="http://schemas.microsoft.com/office/drawing/2014/main" id="{94DDC30C-9BA9-4433-8444-1AEFFFD6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5D38"/>
                </a:solidFill>
              </a:defRPr>
            </a:pPr>
            <a:r>
              <a:rPr sz="1500" b="1">
                <a:solidFill>
                  <a:srgbClr val="D95D38"/>
                </a:solidFill>
              </a:rPr>
              <a:t>同一底座 · 不同深度 · 同一交付闭环</a:t>
            </a:r>
          </a:p>
        </p:txBody>
      </p:sp>
      <p:sp>
        <p:nvSpPr>
          <p:cNvPr id="16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407382D4-C746-4E01-8AA6-65E9BF0A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4">
            <a:extLst xmlns:a="http://schemas.openxmlformats.org/drawingml/2006/main">
              <a:ext uri="{FF2B5EF4-FFF2-40B4-BE49-F238E27FC236}">
                <a16:creationId xmlns:a16="http://schemas.microsoft.com/office/drawing/2014/main" id="{715B8BAA-019E-456F-811B-C22A3182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AB8B0"/>
                </a:solidFill>
              </a:defRPr>
            </a:pPr>
            <a:r>
              <a:rPr sz="825" b="1">
                <a:solidFill>
                  <a:srgbClr val="AAB8B0"/>
                </a:solidFill>
              </a:rPr>
              <a:t>AI PRODUCT MANAGER · ARCHITECTURAL REPORT AGENT</a:t>
            </a:r>
          </a:p>
        </p:txBody>
      </p:sp>
      <p:sp>
        <p:nvSpPr>
          <p:cNvPr id="18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9646D16D-4E09-4EE3-B5C9-DB634C29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5D38"/>
                </a:solidFill>
              </a:defRPr>
            </a:pPr>
            <a:r>
              <a:rPr sz="825" b="1">
                <a:solidFill>
                  <a:srgbClr val="D95D3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552673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ge-5">
            <a:extLst xmlns:a="http://schemas.openxmlformats.org/drawingml/2006/main">
              <a:ext uri="{FF2B5EF4-FFF2-40B4-BE49-F238E27FC236}">
                <a16:creationId xmlns:a16="http://schemas.microsoft.com/office/drawing/2014/main" id="{86521CC4-5086-4739-9762-D4D84E3D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5D38"/>
                </a:solidFill>
              </a:defRPr>
            </a:pPr>
            <a:r>
              <a:rPr sz="1050" b="1">
                <a:solidFill>
                  <a:srgbClr val="D95D38"/>
                </a:solidFill>
              </a:rPr>
              <a:t>05</a:t>
            </a:r>
          </a:p>
        </p:txBody>
      </p:sp>
      <p:sp>
        <p:nvSpPr>
          <p:cNvPr id="2" name="kicker-5">
            <a:extLst xmlns:a="http://schemas.openxmlformats.org/drawingml/2006/main">
              <a:ext uri="{FF2B5EF4-FFF2-40B4-BE49-F238E27FC236}">
                <a16:creationId xmlns:a16="http://schemas.microsoft.com/office/drawing/2014/main" id="{4AF3AC35-3238-40B6-82CB-957DCC59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48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7972"/>
                </a:solidFill>
              </a:defRPr>
            </a:pPr>
            <a:r>
              <a:rPr sz="975" b="1">
                <a:solidFill>
                  <a:srgbClr val="6D7972"/>
                </a:solidFill>
              </a:rPr>
              <a:t>PIPELINE A</a:t>
            </a:r>
          </a:p>
        </p:txBody>
      </p:sp>
      <p:sp>
        <p:nvSpPr>
          <p:cNvPr id="3" name="section-5">
            <a:extLst xmlns:a="http://schemas.openxmlformats.org/drawingml/2006/main">
              <a:ext uri="{FF2B5EF4-FFF2-40B4-BE49-F238E27FC236}">
                <a16:creationId xmlns:a16="http://schemas.microsoft.com/office/drawing/2014/main" id="{5DC8F179-84AE-48D3-8549-68DF1032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D7972"/>
                </a:solidFill>
              </a:defRPr>
            </a:pPr>
            <a:r>
              <a:rPr sz="975">
                <a:solidFill>
                  <a:srgbClr val="6D7972"/>
                </a:solidFill>
              </a:rPr>
              <a:t>LARGE BUILDING</a:t>
            </a:r>
          </a:p>
        </p:txBody>
      </p:sp>
      <p:sp>
        <p:nvSpPr>
          <p:cNvPr id="4" name="header-rule-5">
            <a:extLst xmlns:a="http://schemas.openxmlformats.org/drawingml/2006/main">
              <a:ext uri="{FF2B5EF4-FFF2-40B4-BE49-F238E27FC236}">
                <a16:creationId xmlns:a16="http://schemas.microsoft.com/office/drawing/2014/main" id="{0DB8D822-060B-4A4D-8967-D9514B55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arge-title">
            <a:extLst xmlns:a="http://schemas.openxmlformats.org/drawingml/2006/main">
              <a:ext uri="{FF2B5EF4-FFF2-40B4-BE49-F238E27FC236}">
                <a16:creationId xmlns:a16="http://schemas.microsoft.com/office/drawing/2014/main" id="{9F63B746-6B12-468A-8283-7C8A9C23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1D"/>
                </a:solidFill>
              </a:defRPr>
            </a:pPr>
            <a:r>
              <a:rPr sz="3225" b="1">
                <a:solidFill>
                  <a:srgbClr val="17201D"/>
                </a:solidFill>
              </a:rPr>
              <a:t>大型管线：把专业任务书翻译成设计决策</a:t>
            </a:r>
          </a:p>
        </p:txBody>
      </p:sp>
      <p:sp>
        <p:nvSpPr>
          <p:cNvPr id="6" name="large-title-subtitle">
            <a:extLst xmlns:a="http://schemas.openxmlformats.org/drawingml/2006/main">
              <a:ext uri="{FF2B5EF4-FFF2-40B4-BE49-F238E27FC236}">
                <a16:creationId xmlns:a16="http://schemas.microsoft.com/office/drawing/2014/main" id="{C6BA32F0-662D-4608-9DE5-AA3A5847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6D7972"/>
                </a:solidFill>
              </a:defRPr>
            </a:pPr>
            <a:r>
              <a:rPr sz="1425">
                <a:solidFill>
                  <a:srgbClr val="6D7972"/>
                </a:solidFill>
              </a:rPr>
              <a:t>核心价值是降低专业资料的理解成本，同时保留建筑师需要的判断边界。</a:t>
            </a:r>
          </a:p>
        </p:txBody>
      </p:sp>
      <p:sp>
        <p:nvSpPr>
          <p:cNvPr id="7" name="large-row-0">
            <a:extLst xmlns:a="http://schemas.openxmlformats.org/drawingml/2006/main">
              <a:ext uri="{FF2B5EF4-FFF2-40B4-BE49-F238E27FC236}">
                <a16:creationId xmlns:a16="http://schemas.microsoft.com/office/drawing/2014/main" id="{B65D9D36-BE3B-4BC7-B421-D01B8705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arge-row-head-0">
            <a:extLst xmlns:a="http://schemas.openxmlformats.org/drawingml/2006/main">
              <a:ext uri="{FF2B5EF4-FFF2-40B4-BE49-F238E27FC236}">
                <a16:creationId xmlns:a16="http://schemas.microsoft.com/office/drawing/2014/main" id="{C3C448E1-6DB6-41F9-8D51-DE00E3D1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1D"/>
                </a:solidFill>
              </a:defRPr>
            </a:pPr>
            <a:r>
              <a:rPr sz="1500" b="1">
                <a:solidFill>
                  <a:srgbClr val="17201D"/>
                </a:solidFill>
              </a:rPr>
              <a:t>输入</a:t>
            </a:r>
          </a:p>
        </p:txBody>
      </p:sp>
      <p:sp>
        <p:nvSpPr>
          <p:cNvPr id="9" name="large-row-body-0">
            <a:extLst xmlns:a="http://schemas.openxmlformats.org/drawingml/2006/main">
              <a:ext uri="{FF2B5EF4-FFF2-40B4-BE49-F238E27FC236}">
                <a16:creationId xmlns:a16="http://schemas.microsoft.com/office/drawing/2014/main" id="{2830BE2B-255E-48CC-BF3C-9DDD99D3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765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D7972"/>
                </a:solidFill>
              </a:defRPr>
            </a:pPr>
            <a:r>
              <a:rPr sz="1275">
                <a:solidFill>
                  <a:srgbClr val="6D7972"/>
                </a:solidFill>
              </a:rPr>
              <a:t>面积 / 边界 / 功能 / 交通 / 场地条件</a:t>
            </a:r>
          </a:p>
        </p:txBody>
      </p:sp>
      <p:sp>
        <p:nvSpPr>
          <p:cNvPr id="10" name="large-row-1">
            <a:extLst xmlns:a="http://schemas.openxmlformats.org/drawingml/2006/main">
              <a:ext uri="{FF2B5EF4-FFF2-40B4-BE49-F238E27FC236}">
                <a16:creationId xmlns:a16="http://schemas.microsoft.com/office/drawing/2014/main" id="{2699F4B2-9595-4097-8608-7205048C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arge-row-head-1">
            <a:extLst xmlns:a="http://schemas.openxmlformats.org/drawingml/2006/main">
              <a:ext uri="{FF2B5EF4-FFF2-40B4-BE49-F238E27FC236}">
                <a16:creationId xmlns:a16="http://schemas.microsoft.com/office/drawing/2014/main" id="{5D546803-F41E-48D5-872A-869E22E7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1D"/>
                </a:solidFill>
              </a:defRPr>
            </a:pPr>
            <a:r>
              <a:rPr sz="1500" b="1">
                <a:solidFill>
                  <a:srgbClr val="17201D"/>
                </a:solidFill>
              </a:rPr>
              <a:t>判断</a:t>
            </a:r>
          </a:p>
        </p:txBody>
      </p:sp>
      <p:sp>
        <p:nvSpPr>
          <p:cNvPr id="12" name="large-row-body-1">
            <a:extLst xmlns:a="http://schemas.openxmlformats.org/drawingml/2006/main">
              <a:ext uri="{FF2B5EF4-FFF2-40B4-BE49-F238E27FC236}">
                <a16:creationId xmlns:a16="http://schemas.microsoft.com/office/drawing/2014/main" id="{FA941752-44EF-4AC5-AAF7-1384733E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861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D7972"/>
                </a:solidFill>
              </a:defRPr>
            </a:pPr>
            <a:r>
              <a:rPr sz="1275">
                <a:solidFill>
                  <a:srgbClr val="6D7972"/>
                </a:solidFill>
              </a:rPr>
              <a:t>提案卡片 + Gate B 确认 + 缺失项提示</a:t>
            </a:r>
          </a:p>
        </p:txBody>
      </p:sp>
      <p:sp>
        <p:nvSpPr>
          <p:cNvPr id="13" name="large-row-2">
            <a:extLst xmlns:a="http://schemas.openxmlformats.org/drawingml/2006/main">
              <a:ext uri="{FF2B5EF4-FFF2-40B4-BE49-F238E27FC236}">
                <a16:creationId xmlns:a16="http://schemas.microsoft.com/office/drawing/2014/main" id="{4F1839E3-C8D4-4AF4-A001-0BCBBCE9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arge-row-head-2">
            <a:extLst xmlns:a="http://schemas.openxmlformats.org/drawingml/2006/main">
              <a:ext uri="{FF2B5EF4-FFF2-40B4-BE49-F238E27FC236}">
                <a16:creationId xmlns:a16="http://schemas.microsoft.com/office/drawing/2014/main" id="{2BCADF6D-DBEA-436C-ADC3-18649E02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1D"/>
                </a:solidFill>
              </a:defRPr>
            </a:pPr>
            <a:r>
              <a:rPr sz="1500" b="1">
                <a:solidFill>
                  <a:srgbClr val="17201D"/>
                </a:solidFill>
              </a:rPr>
              <a:t>输出</a:t>
            </a:r>
          </a:p>
        </p:txBody>
      </p:sp>
      <p:sp>
        <p:nvSpPr>
          <p:cNvPr id="15" name="large-row-body-2">
            <a:extLst xmlns:a="http://schemas.openxmlformats.org/drawingml/2006/main">
              <a:ext uri="{FF2B5EF4-FFF2-40B4-BE49-F238E27FC236}">
                <a16:creationId xmlns:a16="http://schemas.microsoft.com/office/drawing/2014/main" id="{B427E67E-EED6-4C51-A736-4807588E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958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D7972"/>
                </a:solidFill>
              </a:defRPr>
            </a:pPr>
            <a:r>
              <a:rPr sz="1275">
                <a:solidFill>
                  <a:srgbClr val="6D7972"/>
                </a:solidFill>
              </a:rPr>
              <a:t>场地、总图、空间、立面、技术、总结</a:t>
            </a:r>
          </a:p>
        </p:txBody>
      </p:sp>
      <p:sp>
        <p:nvSpPr>
          <p:cNvPr id="16" name="large-translation-label">
            <a:extLst xmlns:a="http://schemas.openxmlformats.org/drawingml/2006/main">
              <a:ext uri="{FF2B5EF4-FFF2-40B4-BE49-F238E27FC236}">
                <a16:creationId xmlns:a16="http://schemas.microsoft.com/office/drawing/2014/main" id="{2EB42E4D-FA0F-4C86-AF6D-F6D0230D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43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D38"/>
                </a:solidFill>
              </a:defRPr>
            </a:pPr>
            <a:r>
              <a:rPr sz="975" b="1">
                <a:solidFill>
                  <a:srgbClr val="D95D38"/>
                </a:solidFill>
              </a:rPr>
              <a:t>翻译关系</a:t>
            </a:r>
          </a:p>
        </p:txBody>
      </p:sp>
      <p:sp>
        <p:nvSpPr>
          <p:cNvPr id="17" name="large-translation">
            <a:extLst xmlns:a="http://schemas.openxmlformats.org/drawingml/2006/main">
              <a:ext uri="{FF2B5EF4-FFF2-40B4-BE49-F238E27FC236}">
                <a16:creationId xmlns:a16="http://schemas.microsoft.com/office/drawing/2014/main" id="{5F9ADC9F-EF4D-4BAE-9B7A-2248D5D0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43200"/>
            <a:ext cx="27622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01D"/>
                </a:solidFill>
              </a:defRPr>
            </a:pPr>
            <a:r>
              <a:rPr sz="2400" b="1">
                <a:solidFill>
                  <a:srgbClr val="17201D"/>
                </a:solidFill>
              </a:rPr>
              <a:t>专业数据</a:t>
            </a:r>
          </a:p>
          <a:p xmlns:a="http://schemas.openxmlformats.org/drawingml/2006/main">
            <a:pPr algn="ctr">
              <a:defRPr sz="2400" b="1">
                <a:solidFill>
                  <a:srgbClr val="17201D"/>
                </a:solidFill>
              </a:defRPr>
            </a:pPr>
            <a:r>
              <a:rPr sz="2400" b="1">
                <a:solidFill>
                  <a:srgbClr val="17201D"/>
                </a:solidFill>
              </a:rPr>
              <a:t>↓</a:t>
            </a:r>
          </a:p>
          <a:p xmlns:a="http://schemas.openxmlformats.org/drawingml/2006/main">
            <a:pPr algn="ctr">
              <a:defRPr sz="2400" b="1">
                <a:solidFill>
                  <a:srgbClr val="17201D"/>
                </a:solidFill>
              </a:defRPr>
            </a:pPr>
            <a:r>
              <a:rPr sz="2400" b="1">
                <a:solidFill>
                  <a:srgbClr val="17201D"/>
                </a:solidFill>
              </a:rPr>
              <a:t>可确认的设计判断</a:t>
            </a:r>
          </a:p>
          <a:p xmlns:a="http://schemas.openxmlformats.org/drawingml/2006/main">
            <a:pPr algn="ctr">
              <a:defRPr sz="2400" b="1">
                <a:solidFill>
                  <a:srgbClr val="17201D"/>
                </a:solidFill>
              </a:defRPr>
            </a:pPr>
            <a:r>
              <a:rPr sz="2400" b="1">
                <a:solidFill>
                  <a:srgbClr val="17201D"/>
                </a:solidFill>
              </a:rPr>
              <a:t>↓</a:t>
            </a:r>
          </a:p>
          <a:p xmlns:a="http://schemas.openxmlformats.org/drawingml/2006/main">
            <a:pPr algn="ctr">
              <a:defRPr sz="2400" b="1">
                <a:solidFill>
                  <a:srgbClr val="17201D"/>
                </a:solidFill>
              </a:defRPr>
            </a:pPr>
            <a:r>
              <a:rPr sz="2400" b="1">
                <a:solidFill>
                  <a:srgbClr val="17201D"/>
                </a:solidFill>
              </a:rPr>
              <a:t>有证据的页面叙事</a:t>
            </a:r>
          </a:p>
        </p:txBody>
      </p:sp>
      <p:sp>
        <p:nvSpPr>
          <p:cNvPr id="18" name="large-guard-rule">
            <a:extLst xmlns:a="http://schemas.openxmlformats.org/drawingml/2006/main">
              <a:ext uri="{FF2B5EF4-FFF2-40B4-BE49-F238E27FC236}">
                <a16:creationId xmlns:a16="http://schemas.microsoft.com/office/drawing/2014/main" id="{F09CEABD-B7CF-45DA-BD8B-404F58C6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95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large-guard-label">
            <a:extLst xmlns:a="http://schemas.openxmlformats.org/drawingml/2006/main">
              <a:ext uri="{FF2B5EF4-FFF2-40B4-BE49-F238E27FC236}">
                <a16:creationId xmlns:a16="http://schemas.microsoft.com/office/drawing/2014/main" id="{6815106F-315E-4BD4-ADA7-D33F82E8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5947"/>
                </a:solidFill>
              </a:defRPr>
            </a:pPr>
            <a:r>
              <a:rPr sz="1500" b="1">
                <a:solidFill>
                  <a:srgbClr val="365947"/>
                </a:solidFill>
              </a:rPr>
              <a:t>为什么可靠</a:t>
            </a:r>
          </a:p>
        </p:txBody>
      </p:sp>
      <p:sp>
        <p:nvSpPr>
          <p:cNvPr id="20" name="large-guard-body">
            <a:extLst xmlns:a="http://schemas.openxmlformats.org/drawingml/2006/main">
              <a:ext uri="{FF2B5EF4-FFF2-40B4-BE49-F238E27FC236}">
                <a16:creationId xmlns:a16="http://schemas.microsoft.com/office/drawing/2014/main" id="{5A3540D9-AB5E-437E-87E3-4B44DA4F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19400"/>
            <a:ext cx="16573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D7972"/>
                </a:solidFill>
              </a:defRPr>
            </a:pPr>
            <a:r>
              <a:rPr sz="1275">
                <a:solidFill>
                  <a:srgbClr val="6D7972"/>
                </a:solidFill>
              </a:rPr>
              <a:t>事实、提案、历史参考各有来源角色；没有来源的数字不进入最终文案；场地分析必须回到当前项目。</a:t>
            </a:r>
          </a:p>
        </p:txBody>
      </p:sp>
      <p:sp>
        <p:nvSpPr>
          <p:cNvPr id="21" name="large-result">
            <a:extLst xmlns:a="http://schemas.openxmlformats.org/drawingml/2006/main">
              <a:ext uri="{FF2B5EF4-FFF2-40B4-BE49-F238E27FC236}">
                <a16:creationId xmlns:a16="http://schemas.microsoft.com/office/drawing/2014/main" id="{E9332A86-DA63-4E21-BDC4-6B14A0B0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29200"/>
            <a:ext cx="5276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9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large-result-text">
            <a:extLst xmlns:a="http://schemas.openxmlformats.org/drawingml/2006/main">
              <a:ext uri="{FF2B5EF4-FFF2-40B4-BE49-F238E27FC236}">
                <a16:creationId xmlns:a16="http://schemas.microsoft.com/office/drawing/2014/main" id="{3CDAEF40-3036-42AB-A0CC-F1A0668F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43500"/>
            <a:ext cx="489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把“读任务书”变成“确认设计判断”</a:t>
            </a:r>
          </a:p>
        </p:txBody>
      </p:sp>
      <p:sp>
        <p:nvSpPr>
          <p:cNvPr id="2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81C65807-A67C-4127-B51C-FADE595F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ooter-5">
            <a:extLst xmlns:a="http://schemas.openxmlformats.org/drawingml/2006/main">
              <a:ext uri="{FF2B5EF4-FFF2-40B4-BE49-F238E27FC236}">
                <a16:creationId xmlns:a16="http://schemas.microsoft.com/office/drawing/2014/main" id="{AC0D4712-4C7C-41DB-92B6-5E2D389C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7972"/>
                </a:solidFill>
              </a:defRPr>
            </a:pPr>
            <a:r>
              <a:rPr sz="825" b="1">
                <a:solidFill>
                  <a:srgbClr val="6D7972"/>
                </a:solidFill>
              </a:rPr>
              <a:t>AI PRODUCT MANAGER · ARCHITECTURAL REPORT AGENT</a:t>
            </a:r>
          </a:p>
        </p:txBody>
      </p:sp>
      <p:sp>
        <p:nvSpPr>
          <p:cNvPr id="25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6482FEBD-876C-4FAF-A8E1-EF9D2E8E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D7972"/>
                </a:solidFill>
              </a:defRPr>
            </a:pPr>
            <a:r>
              <a:rPr sz="825" b="1">
                <a:solidFill>
                  <a:srgbClr val="6D797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713458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page-6">
            <a:extLst xmlns:a="http://schemas.openxmlformats.org/drawingml/2006/main">
              <a:ext uri="{FF2B5EF4-FFF2-40B4-BE49-F238E27FC236}">
                <a16:creationId xmlns:a16="http://schemas.microsoft.com/office/drawing/2014/main" id="{903206FB-1FD5-4E95-90FC-B2D9F589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5D38"/>
                </a:solidFill>
              </a:defRPr>
            </a:pPr>
            <a:r>
              <a:rPr sz="1050" b="1">
                <a:solidFill>
                  <a:srgbClr val="D95D38"/>
                </a:solidFill>
              </a:rPr>
              <a:t>06</a:t>
            </a:r>
          </a:p>
        </p:txBody>
      </p:sp>
      <p:sp>
        <p:nvSpPr>
          <p:cNvPr id="2" name="kicker-6">
            <a:extLst xmlns:a="http://schemas.openxmlformats.org/drawingml/2006/main">
              <a:ext uri="{FF2B5EF4-FFF2-40B4-BE49-F238E27FC236}">
                <a16:creationId xmlns:a16="http://schemas.microsoft.com/office/drawing/2014/main" id="{4D5C8658-3EE8-487C-847F-4A000B59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48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7972"/>
                </a:solidFill>
              </a:defRPr>
            </a:pPr>
            <a:r>
              <a:rPr sz="975" b="1">
                <a:solidFill>
                  <a:srgbClr val="6D7972"/>
                </a:solidFill>
              </a:rPr>
              <a:t>PIPELINE B</a:t>
            </a:r>
          </a:p>
        </p:txBody>
      </p:sp>
      <p:sp>
        <p:nvSpPr>
          <p:cNvPr id="3" name="section-6">
            <a:extLst xmlns:a="http://schemas.openxmlformats.org/drawingml/2006/main">
              <a:ext uri="{FF2B5EF4-FFF2-40B4-BE49-F238E27FC236}">
                <a16:creationId xmlns:a16="http://schemas.microsoft.com/office/drawing/2014/main" id="{C25D0338-0DC2-42D6-9B72-E8CB98EA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D7972"/>
                </a:solidFill>
              </a:defRPr>
            </a:pPr>
            <a:r>
              <a:rPr sz="975">
                <a:solidFill>
                  <a:srgbClr val="6D7972"/>
                </a:solidFill>
              </a:rPr>
              <a:t>SMALL-SCALE BUILDING</a:t>
            </a:r>
          </a:p>
        </p:txBody>
      </p:sp>
      <p:sp>
        <p:nvSpPr>
          <p:cNvPr id="4" name="header-rule-6">
            <a:extLst xmlns:a="http://schemas.openxmlformats.org/drawingml/2006/main">
              <a:ext uri="{FF2B5EF4-FFF2-40B4-BE49-F238E27FC236}">
                <a16:creationId xmlns:a16="http://schemas.microsoft.com/office/drawing/2014/main" id="{49EF899D-2935-46D6-ADCB-5EB8F11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mall-title">
            <a:extLst xmlns:a="http://schemas.openxmlformats.org/drawingml/2006/main">
              <a:ext uri="{FF2B5EF4-FFF2-40B4-BE49-F238E27FC236}">
                <a16:creationId xmlns:a16="http://schemas.microsoft.com/office/drawing/2014/main" id="{E8829371-604A-430B-8F2F-BC687359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1D"/>
                </a:solidFill>
              </a:defRPr>
            </a:pPr>
            <a:r>
              <a:rPr sz="3225" b="1">
                <a:solidFill>
                  <a:srgbClr val="17201D"/>
                </a:solidFill>
              </a:rPr>
              <a:t>小型管线：轻量化不是简化，而是保留创意多样性</a:t>
            </a:r>
          </a:p>
        </p:txBody>
      </p:sp>
      <p:sp>
        <p:nvSpPr>
          <p:cNvPr id="6" name="small-title-subtitle">
            <a:extLst xmlns:a="http://schemas.openxmlformats.org/drawingml/2006/main">
              <a:ext uri="{FF2B5EF4-FFF2-40B4-BE49-F238E27FC236}">
                <a16:creationId xmlns:a16="http://schemas.microsoft.com/office/drawing/2014/main" id="{E4E9D9E4-6EFA-4C61-87C2-618A087D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6D7972"/>
                </a:solidFill>
              </a:defRPr>
            </a:pPr>
            <a:r>
              <a:rPr sz="1425">
                <a:solidFill>
                  <a:srgbClr val="6D7972"/>
                </a:solidFill>
              </a:rPr>
              <a:t>小型提案不一定需要大型项目的多轮 Gate；事实清楚后，一键生成并列方向，再用可建造性把结果拉回现实。</a:t>
            </a:r>
          </a:p>
        </p:txBody>
      </p:sp>
      <p:sp>
        <p:nvSpPr>
          <p:cNvPr id="7" name="small-step-num-0">
            <a:extLst xmlns:a="http://schemas.openxmlformats.org/drawingml/2006/main">
              <a:ext uri="{FF2B5EF4-FFF2-40B4-BE49-F238E27FC236}">
                <a16:creationId xmlns:a16="http://schemas.microsoft.com/office/drawing/2014/main" id="{0927B7E3-A411-4806-B929-8101CBE4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5D38"/>
                </a:solidFill>
              </a:defRPr>
            </a:pPr>
            <a:r>
              <a:rPr sz="1200" b="1">
                <a:solidFill>
                  <a:srgbClr val="D95D38"/>
                </a:solidFill>
              </a:rPr>
              <a:t>01</a:t>
            </a:r>
          </a:p>
        </p:txBody>
      </p:sp>
      <p:sp>
        <p:nvSpPr>
          <p:cNvPr id="8" name="small-step-rule-0">
            <a:extLst xmlns:a="http://schemas.openxmlformats.org/drawingml/2006/main">
              <a:ext uri="{FF2B5EF4-FFF2-40B4-BE49-F238E27FC236}">
                <a16:creationId xmlns:a16="http://schemas.microsoft.com/office/drawing/2014/main" id="{AF3FF268-CC92-41A0-9797-3F758F18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0985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mall-step-head-0">
            <a:extLst xmlns:a="http://schemas.openxmlformats.org/drawingml/2006/main">
              <a:ext uri="{FF2B5EF4-FFF2-40B4-BE49-F238E27FC236}">
                <a16:creationId xmlns:a16="http://schemas.microsoft.com/office/drawing/2014/main" id="{7B1130D8-BFA9-42D6-9A59-42569160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1D"/>
                </a:solidFill>
              </a:defRPr>
            </a:pPr>
            <a:r>
              <a:rPr sz="1875" b="1">
                <a:solidFill>
                  <a:srgbClr val="17201D"/>
                </a:solidFill>
              </a:rPr>
              <a:t>识别事实</a:t>
            </a:r>
          </a:p>
        </p:txBody>
      </p:sp>
      <p:sp>
        <p:nvSpPr>
          <p:cNvPr id="10" name="small-step-body-0">
            <a:extLst xmlns:a="http://schemas.openxmlformats.org/drawingml/2006/main">
              <a:ext uri="{FF2B5EF4-FFF2-40B4-BE49-F238E27FC236}">
                <a16:creationId xmlns:a16="http://schemas.microsoft.com/office/drawing/2014/main" id="{38E15217-450F-46EA-A026-5EE20261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D7972"/>
                </a:solidFill>
              </a:defRPr>
            </a:pPr>
            <a:r>
              <a:rPr sz="1275">
                <a:solidFill>
                  <a:srgbClr val="6D7972"/>
                </a:solidFill>
              </a:rPr>
              <a:t>活动、场地、产品、限制条件</a:t>
            </a:r>
          </a:p>
        </p:txBody>
      </p:sp>
      <p:sp>
        <p:nvSpPr>
          <p:cNvPr id="11" name="small-step-num-1">
            <a:extLst xmlns:a="http://schemas.openxmlformats.org/drawingml/2006/main">
              <a:ext uri="{FF2B5EF4-FFF2-40B4-BE49-F238E27FC236}">
                <a16:creationId xmlns:a16="http://schemas.microsoft.com/office/drawing/2014/main" id="{45B702CE-8212-4EEA-95FE-8171E76D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765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5947"/>
                </a:solidFill>
              </a:defRPr>
            </a:pPr>
            <a:r>
              <a:rPr sz="1200" b="1">
                <a:solidFill>
                  <a:srgbClr val="365947"/>
                </a:solidFill>
              </a:rPr>
              <a:t>02</a:t>
            </a:r>
          </a:p>
        </p:txBody>
      </p:sp>
      <p:sp>
        <p:nvSpPr>
          <p:cNvPr id="12" name="small-step-rule-1">
            <a:extLst xmlns:a="http://schemas.openxmlformats.org/drawingml/2006/main">
              <a:ext uri="{FF2B5EF4-FFF2-40B4-BE49-F238E27FC236}">
                <a16:creationId xmlns:a16="http://schemas.microsoft.com/office/drawing/2014/main" id="{DE37AF30-10EB-4098-9F7A-926CA60A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0985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9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mall-step-head-1">
            <a:extLst xmlns:a="http://schemas.openxmlformats.org/drawingml/2006/main">
              <a:ext uri="{FF2B5EF4-FFF2-40B4-BE49-F238E27FC236}">
                <a16:creationId xmlns:a16="http://schemas.microsoft.com/office/drawing/2014/main" id="{71CEE6C6-EAF7-4E07-BC17-2F6CFB95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099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1D"/>
                </a:solidFill>
              </a:defRPr>
            </a:pPr>
            <a:r>
              <a:rPr sz="1875" b="1">
                <a:solidFill>
                  <a:srgbClr val="17201D"/>
                </a:solidFill>
              </a:rPr>
              <a:t>提取方向</a:t>
            </a:r>
          </a:p>
        </p:txBody>
      </p:sp>
      <p:sp>
        <p:nvSpPr>
          <p:cNvPr id="14" name="small-step-body-1">
            <a:extLst xmlns:a="http://schemas.openxmlformats.org/drawingml/2006/main">
              <a:ext uri="{FF2B5EF4-FFF2-40B4-BE49-F238E27FC236}">
                <a16:creationId xmlns:a16="http://schemas.microsoft.com/office/drawing/2014/main" id="{CDEAB891-8DF8-4FEF-B806-4BE3C3E2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0520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D7972"/>
                </a:solidFill>
              </a:defRPr>
            </a:pPr>
            <a:r>
              <a:rPr sz="1275">
                <a:solidFill>
                  <a:srgbClr val="6D7972"/>
                </a:solidFill>
              </a:rPr>
              <a:t>任务书已有方向优先；没有则生成最多三个可编辑方向</a:t>
            </a:r>
          </a:p>
        </p:txBody>
      </p:sp>
      <p:sp>
        <p:nvSpPr>
          <p:cNvPr id="15" name="small-step-num-2">
            <a:extLst xmlns:a="http://schemas.openxmlformats.org/drawingml/2006/main">
              <a:ext uri="{FF2B5EF4-FFF2-40B4-BE49-F238E27FC236}">
                <a16:creationId xmlns:a16="http://schemas.microsoft.com/office/drawing/2014/main" id="{D486FA95-BA35-441A-AE9B-4CD17BF9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98A9"/>
                </a:solidFill>
              </a:defRPr>
            </a:pPr>
            <a:r>
              <a:rPr sz="1200" b="1">
                <a:solidFill>
                  <a:srgbClr val="7898A9"/>
                </a:solidFill>
              </a:rPr>
              <a:t>03</a:t>
            </a:r>
          </a:p>
        </p:txBody>
      </p:sp>
      <p:sp>
        <p:nvSpPr>
          <p:cNvPr id="16" name="small-step-rule-2">
            <a:extLst xmlns:a="http://schemas.openxmlformats.org/drawingml/2006/main">
              <a:ext uri="{FF2B5EF4-FFF2-40B4-BE49-F238E27FC236}">
                <a16:creationId xmlns:a16="http://schemas.microsoft.com/office/drawing/2014/main" id="{57C44ECF-1C6A-47CF-B75C-6CE5A956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0985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mall-step-head-2">
            <a:extLst xmlns:a="http://schemas.openxmlformats.org/drawingml/2006/main">
              <a:ext uri="{FF2B5EF4-FFF2-40B4-BE49-F238E27FC236}">
                <a16:creationId xmlns:a16="http://schemas.microsoft.com/office/drawing/2014/main" id="{419FA6B4-1742-42A6-9780-D29238C7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99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1D"/>
                </a:solidFill>
              </a:defRPr>
            </a:pPr>
            <a:r>
              <a:rPr sz="1875" b="1">
                <a:solidFill>
                  <a:srgbClr val="17201D"/>
                </a:solidFill>
              </a:rPr>
              <a:t>一键成稿</a:t>
            </a:r>
          </a:p>
        </p:txBody>
      </p:sp>
      <p:sp>
        <p:nvSpPr>
          <p:cNvPr id="18" name="small-step-body-2">
            <a:extLst xmlns:a="http://schemas.openxmlformats.org/drawingml/2006/main">
              <a:ext uri="{FF2B5EF4-FFF2-40B4-BE49-F238E27FC236}">
                <a16:creationId xmlns:a16="http://schemas.microsoft.com/office/drawing/2014/main" id="{B0A8167F-0780-4B81-81CB-19EBDEBB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D7972"/>
                </a:solidFill>
              </a:defRPr>
            </a:pPr>
            <a:r>
              <a:rPr sz="1275">
                <a:solidFill>
                  <a:srgbClr val="6D7972"/>
                </a:solidFill>
              </a:rPr>
              <a:t>方向 → 方案身份 → 页面 → 视觉任务</a:t>
            </a:r>
          </a:p>
        </p:txBody>
      </p:sp>
      <p:sp>
        <p:nvSpPr>
          <p:cNvPr id="19" name="small-step-num-3">
            <a:extLst xmlns:a="http://schemas.openxmlformats.org/drawingml/2006/main">
              <a:ext uri="{FF2B5EF4-FFF2-40B4-BE49-F238E27FC236}">
                <a16:creationId xmlns:a16="http://schemas.microsoft.com/office/drawing/2014/main" id="{80DC43B0-86CB-412E-9F92-5B16F272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765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5D38"/>
                </a:solidFill>
              </a:defRPr>
            </a:pPr>
            <a:r>
              <a:rPr sz="1200" b="1">
                <a:solidFill>
                  <a:srgbClr val="D95D38"/>
                </a:solidFill>
              </a:rPr>
              <a:t>04</a:t>
            </a:r>
          </a:p>
        </p:txBody>
      </p:sp>
      <p:sp>
        <p:nvSpPr>
          <p:cNvPr id="20" name="small-step-rule-3">
            <a:extLst xmlns:a="http://schemas.openxmlformats.org/drawingml/2006/main">
              <a:ext uri="{FF2B5EF4-FFF2-40B4-BE49-F238E27FC236}">
                <a16:creationId xmlns:a16="http://schemas.microsoft.com/office/drawing/2014/main" id="{82015314-2385-4D7C-9EFC-5498B60D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0985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mall-step-head-3">
            <a:extLst xmlns:a="http://schemas.openxmlformats.org/drawingml/2006/main">
              <a:ext uri="{FF2B5EF4-FFF2-40B4-BE49-F238E27FC236}">
                <a16:creationId xmlns:a16="http://schemas.microsoft.com/office/drawing/2014/main" id="{2FA4E0AD-18B4-40ED-A184-4A245810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1D"/>
                </a:solidFill>
              </a:defRPr>
            </a:pPr>
            <a:r>
              <a:rPr sz="1875" b="1">
                <a:solidFill>
                  <a:srgbClr val="17201D"/>
                </a:solidFill>
              </a:rPr>
              <a:t>现实收敛</a:t>
            </a:r>
          </a:p>
        </p:txBody>
      </p:sp>
      <p:sp>
        <p:nvSpPr>
          <p:cNvPr id="22" name="small-step-body-3">
            <a:extLst xmlns:a="http://schemas.openxmlformats.org/drawingml/2006/main">
              <a:ext uri="{FF2B5EF4-FFF2-40B4-BE49-F238E27FC236}">
                <a16:creationId xmlns:a16="http://schemas.microsoft.com/office/drawing/2014/main" id="{4BBE09A8-2E82-4305-8928-EBDE8A01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0520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D7972"/>
                </a:solidFill>
              </a:defRPr>
            </a:pPr>
            <a:r>
              <a:rPr sz="1275">
                <a:solidFill>
                  <a:srgbClr val="6D7972"/>
                </a:solidFill>
              </a:rPr>
              <a:t>材料、拆装、运输、复用、安全与维护</a:t>
            </a:r>
          </a:p>
        </p:txBody>
      </p:sp>
      <p:sp>
        <p:nvSpPr>
          <p:cNvPr id="23" name="small-proof">
            <a:extLst xmlns:a="http://schemas.openxmlformats.org/drawingml/2006/main">
              <a:ext uri="{FF2B5EF4-FFF2-40B4-BE49-F238E27FC236}">
                <a16:creationId xmlns:a16="http://schemas.microsoft.com/office/drawing/2014/main" id="{CC062903-45D8-4DCC-B987-8C52B2AD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mall-proof-label">
            <a:extLst xmlns:a="http://schemas.openxmlformats.org/drawingml/2006/main">
              <a:ext uri="{FF2B5EF4-FFF2-40B4-BE49-F238E27FC236}">
                <a16:creationId xmlns:a16="http://schemas.microsoft.com/office/drawing/2014/main" id="{90C4477A-8436-4E72-8F2E-3B5698AD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5947"/>
                </a:solidFill>
              </a:defRPr>
            </a:pPr>
            <a:r>
              <a:rPr sz="1050" b="1">
                <a:solidFill>
                  <a:srgbClr val="365947"/>
                </a:solidFill>
              </a:rPr>
              <a:t>回测证据</a:t>
            </a:r>
          </a:p>
        </p:txBody>
      </p:sp>
      <p:sp>
        <p:nvSpPr>
          <p:cNvPr id="25" name="small-proof-body">
            <a:extLst xmlns:a="http://schemas.openxmlformats.org/drawingml/2006/main">
              <a:ext uri="{FF2B5EF4-FFF2-40B4-BE49-F238E27FC236}">
                <a16:creationId xmlns:a16="http://schemas.microsoft.com/office/drawing/2014/main" id="{23AE8D9D-8A59-4B82-96DD-225746B6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9720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1D"/>
                </a:solidFill>
              </a:defRPr>
            </a:pPr>
            <a:r>
              <a:rPr sz="1500" b="1">
                <a:solidFill>
                  <a:srgbClr val="17201D"/>
                </a:solidFill>
              </a:rPr>
              <a:t>新任务书“织回城市”正确提取“纤维再生站 / 共织风廊”，生成 13 页，并隔离景德镇旧项目内容。</a:t>
            </a:r>
          </a:p>
        </p:txBody>
      </p:sp>
      <p:sp>
        <p:nvSpPr>
          <p:cNvPr id="26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762B2FA9-F114-464E-80F7-6765358A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ooter-6">
            <a:extLst xmlns:a="http://schemas.openxmlformats.org/drawingml/2006/main">
              <a:ext uri="{FF2B5EF4-FFF2-40B4-BE49-F238E27FC236}">
                <a16:creationId xmlns:a16="http://schemas.microsoft.com/office/drawing/2014/main" id="{74AAD4B4-DC99-434E-897C-5CB597CB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7972"/>
                </a:solidFill>
              </a:defRPr>
            </a:pPr>
            <a:r>
              <a:rPr sz="825" b="1">
                <a:solidFill>
                  <a:srgbClr val="6D7972"/>
                </a:solidFill>
              </a:rPr>
              <a:t>AI PRODUCT MANAGER · ARCHITECTURAL REPORT AGENT</a:t>
            </a:r>
          </a:p>
        </p:txBody>
      </p:sp>
      <p:sp>
        <p:nvSpPr>
          <p:cNvPr id="28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9A078E48-2ABC-4362-AAEF-D35C481E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D7972"/>
                </a:solidFill>
              </a:defRPr>
            </a:pPr>
            <a:r>
              <a:rPr sz="825" b="1">
                <a:solidFill>
                  <a:srgbClr val="6D797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898486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2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page-7">
            <a:extLst xmlns:a="http://schemas.openxmlformats.org/drawingml/2006/main">
              <a:ext uri="{FF2B5EF4-FFF2-40B4-BE49-F238E27FC236}">
                <a16:creationId xmlns:a16="http://schemas.microsoft.com/office/drawing/2014/main" id="{CA3D1C51-C542-4A20-BD56-5BC5CCEA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5D38"/>
                </a:solidFill>
              </a:defRPr>
            </a:pPr>
            <a:r>
              <a:rPr sz="1050" b="1">
                <a:solidFill>
                  <a:srgbClr val="D95D38"/>
                </a:solidFill>
              </a:rPr>
              <a:t>07</a:t>
            </a:r>
          </a:p>
        </p:txBody>
      </p:sp>
      <p:sp>
        <p:nvSpPr>
          <p:cNvPr id="2" name="kicker-7">
            <a:extLst xmlns:a="http://schemas.openxmlformats.org/drawingml/2006/main">
              <a:ext uri="{FF2B5EF4-FFF2-40B4-BE49-F238E27FC236}">
                <a16:creationId xmlns:a16="http://schemas.microsoft.com/office/drawing/2014/main" id="{7038FCE8-8D3A-4C76-903D-535632D8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48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C7BF"/>
                </a:solidFill>
              </a:defRPr>
            </a:pPr>
            <a:r>
              <a:rPr sz="975" b="1">
                <a:solidFill>
                  <a:srgbClr val="B9C7BF"/>
                </a:solidFill>
              </a:rPr>
              <a:t>NARRATIVE SYSTEM</a:t>
            </a:r>
          </a:p>
        </p:txBody>
      </p:sp>
      <p:sp>
        <p:nvSpPr>
          <p:cNvPr id="3" name="section-7">
            <a:extLst xmlns:a="http://schemas.openxmlformats.org/drawingml/2006/main">
              <a:ext uri="{FF2B5EF4-FFF2-40B4-BE49-F238E27FC236}">
                <a16:creationId xmlns:a16="http://schemas.microsoft.com/office/drawing/2014/main" id="{BD964F48-1F2F-4D33-8FAD-916A70EC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B9C7BF"/>
                </a:solidFill>
              </a:defRPr>
            </a:pPr>
            <a:r>
              <a:rPr sz="975">
                <a:solidFill>
                  <a:srgbClr val="B9C7BF"/>
                </a:solidFill>
              </a:rPr>
              <a:t>SCHEME IDENTITY</a:t>
            </a:r>
          </a:p>
        </p:txBody>
      </p:sp>
      <p:sp>
        <p:nvSpPr>
          <p:cNvPr id="4" name="header-rule-7">
            <a:extLst xmlns:a="http://schemas.openxmlformats.org/drawingml/2006/main">
              <a:ext uri="{FF2B5EF4-FFF2-40B4-BE49-F238E27FC236}">
                <a16:creationId xmlns:a16="http://schemas.microsoft.com/office/drawing/2014/main" id="{33BAD1DD-8CB3-499D-A0E7-7201C176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identity-title">
            <a:extLst xmlns:a="http://schemas.openxmlformats.org/drawingml/2006/main">
              <a:ext uri="{FF2B5EF4-FFF2-40B4-BE49-F238E27FC236}">
                <a16:creationId xmlns:a16="http://schemas.microsoft.com/office/drawing/2014/main" id="{2F19466E-9FE8-486B-A2B1-410B796F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方案身份是一条跨页主键</a:t>
            </a:r>
          </a:p>
        </p:txBody>
      </p:sp>
      <p:sp>
        <p:nvSpPr>
          <p:cNvPr id="6" name="identity-title-subtitle">
            <a:extLst xmlns:a="http://schemas.openxmlformats.org/drawingml/2006/main">
              <a:ext uri="{FF2B5EF4-FFF2-40B4-BE49-F238E27FC236}">
                <a16:creationId xmlns:a16="http://schemas.microsoft.com/office/drawing/2014/main" id="{E83A98B1-6F50-4FA5-986B-582791AB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D3DFD7"/>
                </a:solidFill>
              </a:defRPr>
            </a:pPr>
            <a:r>
              <a:rPr sz="1500">
                <a:solidFill>
                  <a:srgbClr val="D3DFD7"/>
                </a:solidFill>
              </a:rPr>
              <a:t>这是产品比“生成几页文案”更难、也更有价值的地方：同一个方案名和核心逻辑必须贯穿整套汇报。</a:t>
            </a:r>
          </a:p>
        </p:txBody>
      </p:sp>
      <p:sp>
        <p:nvSpPr>
          <p:cNvPr id="7" name="identity-source">
            <a:extLst xmlns:a="http://schemas.openxmlformats.org/drawingml/2006/main">
              <a:ext uri="{FF2B5EF4-FFF2-40B4-BE49-F238E27FC236}">
                <a16:creationId xmlns:a16="http://schemas.microsoft.com/office/drawing/2014/main" id="{E273C779-BA0D-4744-A67A-9E387E87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dentity-source-label">
            <a:extLst xmlns:a="http://schemas.openxmlformats.org/drawingml/2006/main">
              <a:ext uri="{FF2B5EF4-FFF2-40B4-BE49-F238E27FC236}">
                <a16:creationId xmlns:a16="http://schemas.microsoft.com/office/drawing/2014/main" id="{52F358F4-CEBD-490B-A5F2-18385E23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方案定义</a:t>
            </a:r>
          </a:p>
        </p:txBody>
      </p:sp>
      <p:sp>
        <p:nvSpPr>
          <p:cNvPr id="9" name="identity-source-body">
            <a:extLst xmlns:a="http://schemas.openxmlformats.org/drawingml/2006/main">
              <a:ext uri="{FF2B5EF4-FFF2-40B4-BE49-F238E27FC236}">
                <a16:creationId xmlns:a16="http://schemas.microsoft.com/office/drawing/2014/main" id="{2C70617B-C2E3-4C34-A9FB-69CC7601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纤维再生站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共织风廊</a:t>
            </a:r>
          </a:p>
        </p:txBody>
      </p:sp>
      <p:sp>
        <p:nvSpPr>
          <p:cNvPr id="10" name="identity-arrow-line">
            <a:extLst xmlns:a="http://schemas.openxmlformats.org/drawingml/2006/main">
              <a:ext uri="{FF2B5EF4-FFF2-40B4-BE49-F238E27FC236}">
                <a16:creationId xmlns:a16="http://schemas.microsoft.com/office/drawing/2014/main" id="{CC723B08-F91A-49C3-BAC3-52C4E0B8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14800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dentity-arrow-head">
            <a:extLst xmlns:a="http://schemas.openxmlformats.org/drawingml/2006/main">
              <a:ext uri="{FF2B5EF4-FFF2-40B4-BE49-F238E27FC236}">
                <a16:creationId xmlns:a16="http://schemas.microsoft.com/office/drawing/2014/main" id="{E53F92D6-90E9-4A6D-9082-74FDDA27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067175"/>
            <a:ext cx="171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dentity-concept">
            <a:extLst xmlns:a="http://schemas.openxmlformats.org/drawingml/2006/main">
              <a:ext uri="{FF2B5EF4-FFF2-40B4-BE49-F238E27FC236}">
                <a16:creationId xmlns:a16="http://schemas.microsoft.com/office/drawing/2014/main" id="{7DA8A19F-E8DC-4D82-8952-ACF7C089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38550"/>
            <a:ext cx="1219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dentity-concept-text">
            <a:extLst xmlns:a="http://schemas.openxmlformats.org/drawingml/2006/main">
              <a:ext uri="{FF2B5EF4-FFF2-40B4-BE49-F238E27FC236}">
                <a16:creationId xmlns:a16="http://schemas.microsoft.com/office/drawing/2014/main" id="{BA1B6FD7-C470-4422-B49E-8E30F334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6240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1D"/>
                </a:solidFill>
              </a:defRPr>
            </a:pPr>
            <a:r>
              <a:rPr sz="1425" b="1">
                <a:solidFill>
                  <a:srgbClr val="17201D"/>
                </a:solidFill>
              </a:rPr>
              <a:t>概念页</a:t>
            </a:r>
          </a:p>
        </p:txBody>
      </p:sp>
      <p:sp>
        <p:nvSpPr>
          <p:cNvPr id="14" name="identity-concept-arrow-line">
            <a:extLst xmlns:a="http://schemas.openxmlformats.org/drawingml/2006/main">
              <a:ext uri="{FF2B5EF4-FFF2-40B4-BE49-F238E27FC236}">
                <a16:creationId xmlns:a16="http://schemas.microsoft.com/office/drawing/2014/main" id="{726BB23C-3D0A-4F86-8F69-6F41E9B2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1480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9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dentity-concept-arrow-head">
            <a:extLst xmlns:a="http://schemas.openxmlformats.org/drawingml/2006/main">
              <a:ext uri="{FF2B5EF4-FFF2-40B4-BE49-F238E27FC236}">
                <a16:creationId xmlns:a16="http://schemas.microsoft.com/office/drawing/2014/main" id="{90ED9F39-D6AF-40E2-BE0C-03B1E976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067175"/>
            <a:ext cx="171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9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identity-render">
            <a:extLst xmlns:a="http://schemas.openxmlformats.org/drawingml/2006/main">
              <a:ext uri="{FF2B5EF4-FFF2-40B4-BE49-F238E27FC236}">
                <a16:creationId xmlns:a16="http://schemas.microsoft.com/office/drawing/2014/main" id="{EA427606-407D-4E7F-9675-DC46E860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38550"/>
            <a:ext cx="1219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identity-render-text">
            <a:extLst xmlns:a="http://schemas.openxmlformats.org/drawingml/2006/main">
              <a:ext uri="{FF2B5EF4-FFF2-40B4-BE49-F238E27FC236}">
                <a16:creationId xmlns:a16="http://schemas.microsoft.com/office/drawing/2014/main" id="{7E6F7D2B-5AEB-40AF-B685-D23F9DE9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96240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1D"/>
                </a:solidFill>
              </a:defRPr>
            </a:pPr>
            <a:r>
              <a:rPr sz="1425" b="1">
                <a:solidFill>
                  <a:srgbClr val="17201D"/>
                </a:solidFill>
              </a:rPr>
              <a:t>效果页</a:t>
            </a:r>
          </a:p>
        </p:txBody>
      </p:sp>
      <p:sp>
        <p:nvSpPr>
          <p:cNvPr id="18" name="identity-render-arrow-line">
            <a:extLst xmlns:a="http://schemas.openxmlformats.org/drawingml/2006/main">
              <a:ext uri="{FF2B5EF4-FFF2-40B4-BE49-F238E27FC236}">
                <a16:creationId xmlns:a16="http://schemas.microsoft.com/office/drawing/2014/main" id="{2F1D4E6C-7285-4AAA-844E-C8DBA5C0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1480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9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identity-render-arrow-head">
            <a:extLst xmlns:a="http://schemas.openxmlformats.org/drawingml/2006/main">
              <a:ext uri="{FF2B5EF4-FFF2-40B4-BE49-F238E27FC236}">
                <a16:creationId xmlns:a16="http://schemas.microsoft.com/office/drawing/2014/main" id="{D403EAE1-740D-405D-A1F9-394BD9F1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067175"/>
            <a:ext cx="171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9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identity-tech">
            <a:extLst xmlns:a="http://schemas.openxmlformats.org/drawingml/2006/main">
              <a:ext uri="{FF2B5EF4-FFF2-40B4-BE49-F238E27FC236}">
                <a16:creationId xmlns:a16="http://schemas.microsoft.com/office/drawing/2014/main" id="{4B2B5121-6D2D-4FFD-B0E1-16B2787F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38550"/>
            <a:ext cx="1219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identity-tech-text">
            <a:extLst xmlns:a="http://schemas.openxmlformats.org/drawingml/2006/main">
              <a:ext uri="{FF2B5EF4-FFF2-40B4-BE49-F238E27FC236}">
                <a16:creationId xmlns:a16="http://schemas.microsoft.com/office/drawing/2014/main" id="{E6CC9948-A00B-4122-A22D-C3B6EEEA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6240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1D"/>
                </a:solidFill>
              </a:defRPr>
            </a:pPr>
            <a:r>
              <a:rPr sz="1425" b="1">
                <a:solidFill>
                  <a:srgbClr val="17201D"/>
                </a:solidFill>
              </a:rPr>
              <a:t>构造页</a:t>
            </a:r>
          </a:p>
        </p:txBody>
      </p:sp>
      <p:sp>
        <p:nvSpPr>
          <p:cNvPr id="22" name="identity-tech-arrow-line">
            <a:extLst xmlns:a="http://schemas.openxmlformats.org/drawingml/2006/main">
              <a:ext uri="{FF2B5EF4-FFF2-40B4-BE49-F238E27FC236}">
                <a16:creationId xmlns:a16="http://schemas.microsoft.com/office/drawing/2014/main" id="{A2062196-0799-40EA-BD95-6327DA75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1480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9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identity-tech-arrow-head">
            <a:extLst xmlns:a="http://schemas.openxmlformats.org/drawingml/2006/main">
              <a:ext uri="{FF2B5EF4-FFF2-40B4-BE49-F238E27FC236}">
                <a16:creationId xmlns:a16="http://schemas.microsoft.com/office/drawing/2014/main" id="{989A8F11-9199-4126-9BC6-7128431B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067175"/>
            <a:ext cx="171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9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dentity-compare">
            <a:extLst xmlns:a="http://schemas.openxmlformats.org/drawingml/2006/main">
              <a:ext uri="{FF2B5EF4-FFF2-40B4-BE49-F238E27FC236}">
                <a16:creationId xmlns:a16="http://schemas.microsoft.com/office/drawing/2014/main" id="{B8B5BA11-1BB3-4130-9FD5-E00C1330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38550"/>
            <a:ext cx="1219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identity-compare-text">
            <a:extLst xmlns:a="http://schemas.openxmlformats.org/drawingml/2006/main">
              <a:ext uri="{FF2B5EF4-FFF2-40B4-BE49-F238E27FC236}">
                <a16:creationId xmlns:a16="http://schemas.microsoft.com/office/drawing/2014/main" id="{6A2F85B6-07B6-4D0D-8A5F-2B1124E5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6240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1D"/>
                </a:solidFill>
              </a:defRPr>
            </a:pPr>
            <a:r>
              <a:rPr sz="1425" b="1">
                <a:solidFill>
                  <a:srgbClr val="17201D"/>
                </a:solidFill>
              </a:rPr>
              <a:t>P03 对照</a:t>
            </a:r>
          </a:p>
        </p:txBody>
      </p:sp>
      <p:sp>
        <p:nvSpPr>
          <p:cNvPr id="26" name="identity-compare-arrow-line">
            <a:extLst xmlns:a="http://schemas.openxmlformats.org/drawingml/2006/main">
              <a:ext uri="{FF2B5EF4-FFF2-40B4-BE49-F238E27FC236}">
                <a16:creationId xmlns:a16="http://schemas.microsoft.com/office/drawing/2014/main" id="{8E43DBB2-59E8-412D-B5A4-9CCD4718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11480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9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identity-compare-arrow-head">
            <a:extLst xmlns:a="http://schemas.openxmlformats.org/drawingml/2006/main">
              <a:ext uri="{FF2B5EF4-FFF2-40B4-BE49-F238E27FC236}">
                <a16:creationId xmlns:a16="http://schemas.microsoft.com/office/drawing/2014/main" id="{6C435E78-920F-4A67-B7E7-F7FABD8A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67175"/>
            <a:ext cx="171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9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identity-summary">
            <a:extLst xmlns:a="http://schemas.openxmlformats.org/drawingml/2006/main">
              <a:ext uri="{FF2B5EF4-FFF2-40B4-BE49-F238E27FC236}">
                <a16:creationId xmlns:a16="http://schemas.microsoft.com/office/drawing/2014/main" id="{DFF7A3E5-1633-49CB-A7D4-CB847076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38550"/>
            <a:ext cx="1219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identity-summary-text">
            <a:extLst xmlns:a="http://schemas.openxmlformats.org/drawingml/2006/main">
              <a:ext uri="{FF2B5EF4-FFF2-40B4-BE49-F238E27FC236}">
                <a16:creationId xmlns:a16="http://schemas.microsoft.com/office/drawing/2014/main" id="{E34CE3C8-C3B6-422A-B242-2EC40DB4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96240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1D"/>
                </a:solidFill>
              </a:defRPr>
            </a:pPr>
            <a:r>
              <a:rPr sz="1425" b="1">
                <a:solidFill>
                  <a:srgbClr val="17201D"/>
                </a:solidFill>
              </a:rPr>
              <a:t>S04 总结</a:t>
            </a:r>
          </a:p>
        </p:txBody>
      </p:sp>
      <p:sp>
        <p:nvSpPr>
          <p:cNvPr id="30" name="identity-bottom-rule">
            <a:extLst xmlns:a="http://schemas.openxmlformats.org/drawingml/2006/main">
              <a:ext uri="{FF2B5EF4-FFF2-40B4-BE49-F238E27FC236}">
                <a16:creationId xmlns:a16="http://schemas.microsoft.com/office/drawing/2014/main" id="{6A1A87F2-8537-4891-B877-A72D5FD7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identity-bottom">
            <a:extLst xmlns:a="http://schemas.openxmlformats.org/drawingml/2006/main">
              <a:ext uri="{FF2B5EF4-FFF2-40B4-BE49-F238E27FC236}">
                <a16:creationId xmlns:a16="http://schemas.microsoft.com/office/drawing/2014/main" id="{5239AC82-A886-423F-BF27-C9CF6707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结果：标题不再出现“装置3”，总结页也不再生成与正文脱节的图片标题。</a:t>
            </a:r>
          </a:p>
        </p:txBody>
      </p:sp>
      <p:sp>
        <p:nvSpPr>
          <p:cNvPr id="32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D4D278C9-0ECA-4932-886C-21A3FB40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footer-7">
            <a:extLst xmlns:a="http://schemas.openxmlformats.org/drawingml/2006/main">
              <a:ext uri="{FF2B5EF4-FFF2-40B4-BE49-F238E27FC236}">
                <a16:creationId xmlns:a16="http://schemas.microsoft.com/office/drawing/2014/main" id="{A9512A3B-2980-40A2-BA4F-3FA9E634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AB8B0"/>
                </a:solidFill>
              </a:defRPr>
            </a:pPr>
            <a:r>
              <a:rPr sz="825" b="1">
                <a:solidFill>
                  <a:srgbClr val="AAB8B0"/>
                </a:solidFill>
              </a:rPr>
              <a:t>AI PRODUCT MANAGER · ARCHITECTURAL REPORT AGENT</a:t>
            </a:r>
          </a:p>
        </p:txBody>
      </p:sp>
      <p:sp>
        <p:nvSpPr>
          <p:cNvPr id="34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340B96CD-C664-4816-A0C9-E2D37F12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5D38"/>
                </a:solidFill>
              </a:defRPr>
            </a:pPr>
            <a:r>
              <a:rPr sz="825" b="1">
                <a:solidFill>
                  <a:srgbClr val="D95D3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765413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age-8">
            <a:extLst xmlns:a="http://schemas.openxmlformats.org/drawingml/2006/main">
              <a:ext uri="{FF2B5EF4-FFF2-40B4-BE49-F238E27FC236}">
                <a16:creationId xmlns:a16="http://schemas.microsoft.com/office/drawing/2014/main" id="{6F7352E7-9EAF-4805-B312-70D33E40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5D38"/>
                </a:solidFill>
              </a:defRPr>
            </a:pPr>
            <a:r>
              <a:rPr sz="1050" b="1">
                <a:solidFill>
                  <a:srgbClr val="D95D38"/>
                </a:solidFill>
              </a:rPr>
              <a:t>08</a:t>
            </a:r>
          </a:p>
        </p:txBody>
      </p:sp>
      <p:sp>
        <p:nvSpPr>
          <p:cNvPr id="2" name="kicker-8">
            <a:extLst xmlns:a="http://schemas.openxmlformats.org/drawingml/2006/main">
              <a:ext uri="{FF2B5EF4-FFF2-40B4-BE49-F238E27FC236}">
                <a16:creationId xmlns:a16="http://schemas.microsoft.com/office/drawing/2014/main" id="{3235690A-EA91-493E-A3E9-BD52A7EC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48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7972"/>
                </a:solidFill>
              </a:defRPr>
            </a:pPr>
            <a:r>
              <a:rPr sz="975" b="1">
                <a:solidFill>
                  <a:srgbClr val="6D7972"/>
                </a:solidFill>
              </a:rPr>
              <a:t>VISUAL GENERATION</a:t>
            </a:r>
          </a:p>
        </p:txBody>
      </p:sp>
      <p:sp>
        <p:nvSpPr>
          <p:cNvPr id="3" name="section-8">
            <a:extLst xmlns:a="http://schemas.openxmlformats.org/drawingml/2006/main">
              <a:ext uri="{FF2B5EF4-FFF2-40B4-BE49-F238E27FC236}">
                <a16:creationId xmlns:a16="http://schemas.microsoft.com/office/drawing/2014/main" id="{DF171011-DD50-4C9E-B081-330F8215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D7972"/>
                </a:solidFill>
              </a:defRPr>
            </a:pPr>
            <a:r>
              <a:rPr sz="975">
                <a:solidFill>
                  <a:srgbClr val="6D7972"/>
                </a:solidFill>
              </a:rPr>
              <a:t>PROMPT ECONOMY</a:t>
            </a:r>
          </a:p>
        </p:txBody>
      </p:sp>
      <p:sp>
        <p:nvSpPr>
          <p:cNvPr id="4" name="header-rule-8">
            <a:extLst xmlns:a="http://schemas.openxmlformats.org/drawingml/2006/main">
              <a:ext uri="{FF2B5EF4-FFF2-40B4-BE49-F238E27FC236}">
                <a16:creationId xmlns:a16="http://schemas.microsoft.com/office/drawing/2014/main" id="{4AAE77C7-5611-4D20-817C-A9ED17EF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6704D8B0-926F-4EB4-87A2-956482FA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1D"/>
                </a:solidFill>
              </a:defRPr>
            </a:pPr>
            <a:r>
              <a:rPr sz="3225" b="1">
                <a:solidFill>
                  <a:srgbClr val="17201D"/>
                </a:solidFill>
              </a:rPr>
              <a:t>视觉生成只发送当前页面的必要上下文</a:t>
            </a:r>
          </a:p>
        </p:txBody>
      </p:sp>
      <p:sp>
        <p:nvSpPr>
          <p:cNvPr id="6" name="visual-title-subtitle">
            <a:extLst xmlns:a="http://schemas.openxmlformats.org/drawingml/2006/main">
              <a:ext uri="{FF2B5EF4-FFF2-40B4-BE49-F238E27FC236}">
                <a16:creationId xmlns:a16="http://schemas.microsoft.com/office/drawing/2014/main" id="{86116D0F-2572-4D64-B3AE-EAAE7DA1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6D7972"/>
                </a:solidFill>
              </a:defRPr>
            </a:pPr>
            <a:r>
              <a:rPr sz="1425">
                <a:solidFill>
                  <a:srgbClr val="6D7972"/>
                </a:solidFill>
              </a:rPr>
              <a:t>前期不必先建模或依赖 image-to-image；用方案身份、视觉锚点和当前页上下文保持同一设计。</a:t>
            </a:r>
          </a:p>
        </p:txBody>
      </p:sp>
      <p:sp>
        <p:nvSpPr>
          <p:cNvPr id="7" name="visual-page-surface">
            <a:extLst xmlns:a="http://schemas.openxmlformats.org/drawingml/2006/main">
              <a:ext uri="{FF2B5EF4-FFF2-40B4-BE49-F238E27FC236}">
                <a16:creationId xmlns:a16="http://schemas.microsoft.com/office/drawing/2014/main" id="{F77ED794-DB1E-468E-A5E9-4544F92C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CE"/>
          </a:solidFill>
          <a:ln xmlns:a="http://schemas.openxmlformats.org/drawingml/2006/main" w="9525">
            <a:solidFill>
              <a:srgbClr val="C7D0CA"/>
            </a:solidFill>
            <a:prstDash val="solid"/>
          </a:ln>
        </p:spPr>
      </p:sp>
      <p:sp>
        <p:nvSpPr>
          <p:cNvPr id="8" name="visual-page-heading">
            <a:extLst xmlns:a="http://schemas.openxmlformats.org/drawingml/2006/main">
              <a:ext uri="{FF2B5EF4-FFF2-40B4-BE49-F238E27FC236}">
                <a16:creationId xmlns:a16="http://schemas.microsoft.com/office/drawing/2014/main" id="{F097E9ED-AC49-4244-B3F5-C1FF495C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D"/>
                </a:solidFill>
              </a:defRPr>
            </a:pPr>
            <a:r>
              <a:rPr sz="1650" b="1">
                <a:solidFill>
                  <a:srgbClr val="17201D"/>
                </a:solidFill>
              </a:rPr>
              <a:t>当前页面</a:t>
            </a:r>
          </a:p>
        </p:txBody>
      </p:sp>
      <p:sp>
        <p:nvSpPr>
          <p:cNvPr id="9" name="visual-page-body">
            <a:extLst xmlns:a="http://schemas.openxmlformats.org/drawingml/2006/main">
              <a:ext uri="{FF2B5EF4-FFF2-40B4-BE49-F238E27FC236}">
                <a16:creationId xmlns:a16="http://schemas.microsoft.com/office/drawing/2014/main" id="{3866C4D4-EBCA-46A9-AAA0-5356D2FE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D7972"/>
                </a:solidFill>
              </a:defRPr>
            </a:pPr>
            <a:r>
              <a:rPr sz="1200">
                <a:solidFill>
                  <a:srgbClr val="6D7972"/>
                </a:solidFill>
              </a:rPr>
              <a:t>页面主题</a:t>
            </a:r>
          </a:p>
          <a:p xmlns:a="http://schemas.openxmlformats.org/drawingml/2006/main">
            <a:pPr algn="l">
              <a:defRPr sz="1200">
                <a:solidFill>
                  <a:srgbClr val="6D7972"/>
                </a:solidFill>
              </a:defRPr>
            </a:pPr>
            <a:r>
              <a:rPr sz="1200">
                <a:solidFill>
                  <a:srgbClr val="6D7972"/>
                </a:solidFill>
              </a:rPr>
              <a:t>当前方案</a:t>
            </a:r>
          </a:p>
          <a:p xmlns:a="http://schemas.openxmlformats.org/drawingml/2006/main">
            <a:pPr algn="l">
              <a:defRPr sz="1200">
                <a:solidFill>
                  <a:srgbClr val="6D7972"/>
                </a:solidFill>
              </a:defRPr>
            </a:pPr>
            <a:r>
              <a:rPr sz="1200">
                <a:solidFill>
                  <a:srgbClr val="6D7972"/>
                </a:solidFill>
              </a:rPr>
              <a:t>必要事实</a:t>
            </a:r>
          </a:p>
        </p:txBody>
      </p:sp>
      <p:sp>
        <p:nvSpPr>
          <p:cNvPr id="10" name="visual-arrow-1-line">
            <a:extLst xmlns:a="http://schemas.openxmlformats.org/drawingml/2006/main">
              <a:ext uri="{FF2B5EF4-FFF2-40B4-BE49-F238E27FC236}">
                <a16:creationId xmlns:a16="http://schemas.microsoft.com/office/drawing/2014/main" id="{0E072C98-848B-4654-989C-A5E17D0D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1470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visual-arrow-1-head">
            <a:extLst xmlns:a="http://schemas.openxmlformats.org/drawingml/2006/main">
              <a:ext uri="{FF2B5EF4-FFF2-40B4-BE49-F238E27FC236}">
                <a16:creationId xmlns:a16="http://schemas.microsoft.com/office/drawing/2014/main" id="{A62DAB90-BDB6-4A61-B171-A34A65D0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67075"/>
            <a:ext cx="171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sual-slot-surface">
            <a:extLst xmlns:a="http://schemas.openxmlformats.org/drawingml/2006/main">
              <a:ext uri="{FF2B5EF4-FFF2-40B4-BE49-F238E27FC236}">
                <a16:creationId xmlns:a16="http://schemas.microsoft.com/office/drawing/2014/main" id="{C254BFEC-13E9-49EA-B942-A37D07D3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09850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F"/>
          </a:solidFill>
          <a:ln xmlns:a="http://schemas.openxmlformats.org/drawingml/2006/main" w="9525">
            <a:solidFill>
              <a:srgbClr val="C7D0CA"/>
            </a:solidFill>
            <a:prstDash val="solid"/>
          </a:ln>
        </p:spPr>
      </p:sp>
      <p:sp>
        <p:nvSpPr>
          <p:cNvPr id="13" name="visual-slot-heading">
            <a:extLst xmlns:a="http://schemas.openxmlformats.org/drawingml/2006/main">
              <a:ext uri="{FF2B5EF4-FFF2-40B4-BE49-F238E27FC236}">
                <a16:creationId xmlns:a16="http://schemas.microsoft.com/office/drawing/2014/main" id="{FF0524E0-C890-4830-93A3-7E4EC7CC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43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D"/>
                </a:solidFill>
              </a:defRPr>
            </a:pPr>
            <a:r>
              <a:rPr sz="1650" b="1">
                <a:solidFill>
                  <a:srgbClr val="17201D"/>
                </a:solidFill>
              </a:rPr>
              <a:t>图框任务</a:t>
            </a:r>
          </a:p>
        </p:txBody>
      </p:sp>
      <p:sp>
        <p:nvSpPr>
          <p:cNvPr id="14" name="visual-slot-body">
            <a:extLst xmlns:a="http://schemas.openxmlformats.org/drawingml/2006/main">
              <a:ext uri="{FF2B5EF4-FFF2-40B4-BE49-F238E27FC236}">
                <a16:creationId xmlns:a16="http://schemas.microsoft.com/office/drawing/2014/main" id="{2B39CD33-3CFD-4AE6-AF1C-CE3D101E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4325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D7972"/>
                </a:solidFill>
              </a:defRPr>
            </a:pPr>
            <a:r>
              <a:rPr sz="1200">
                <a:solidFill>
                  <a:srgbClr val="6D7972"/>
                </a:solidFill>
              </a:rPr>
              <a:t>用途 + 比例</a:t>
            </a:r>
          </a:p>
          <a:p xmlns:a="http://schemas.openxmlformats.org/drawingml/2006/main">
            <a:pPr algn="l">
              <a:defRPr sz="1200">
                <a:solidFill>
                  <a:srgbClr val="6D7972"/>
                </a:solidFill>
              </a:defRPr>
            </a:pPr>
            <a:r>
              <a:rPr sz="1200">
                <a:solidFill>
                  <a:srgbClr val="6D7972"/>
                </a:solidFill>
              </a:rPr>
              <a:t>短提示词</a:t>
            </a:r>
          </a:p>
          <a:p xmlns:a="http://schemas.openxmlformats.org/drawingml/2006/main">
            <a:pPr algn="l">
              <a:defRPr sz="1200">
                <a:solidFill>
                  <a:srgbClr val="6D7972"/>
                </a:solidFill>
              </a:defRPr>
            </a:pPr>
            <a:r>
              <a:rPr sz="1200">
                <a:solidFill>
                  <a:srgbClr val="6D7972"/>
                </a:solidFill>
              </a:rPr>
              <a:t>精简反向约束</a:t>
            </a:r>
          </a:p>
        </p:txBody>
      </p:sp>
      <p:sp>
        <p:nvSpPr>
          <p:cNvPr id="15" name="visual-arrow-2-line">
            <a:extLst xmlns:a="http://schemas.openxmlformats.org/drawingml/2006/main">
              <a:ext uri="{FF2B5EF4-FFF2-40B4-BE49-F238E27FC236}">
                <a16:creationId xmlns:a16="http://schemas.microsoft.com/office/drawing/2014/main" id="{688EB357-04FC-40F4-BC20-8C4E6925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1470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9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visual-arrow-2-head">
            <a:extLst xmlns:a="http://schemas.openxmlformats.org/drawingml/2006/main">
              <a:ext uri="{FF2B5EF4-FFF2-40B4-BE49-F238E27FC236}">
                <a16:creationId xmlns:a16="http://schemas.microsoft.com/office/drawing/2014/main" id="{B34958E9-BED4-4257-88A3-84C613EB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67075"/>
            <a:ext cx="171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9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visual-model-surface">
            <a:extLst xmlns:a="http://schemas.openxmlformats.org/drawingml/2006/main">
              <a:ext uri="{FF2B5EF4-FFF2-40B4-BE49-F238E27FC236}">
                <a16:creationId xmlns:a16="http://schemas.microsoft.com/office/drawing/2014/main" id="{5A4039F6-B5B0-4156-A464-6AD0635D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09850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1"/>
          </a:solidFill>
          <a:ln xmlns:a="http://schemas.openxmlformats.org/drawingml/2006/main" w="9525">
            <a:solidFill>
              <a:srgbClr val="C7D0CA"/>
            </a:solidFill>
            <a:prstDash val="solid"/>
          </a:ln>
        </p:spPr>
      </p:sp>
      <p:sp>
        <p:nvSpPr>
          <p:cNvPr id="18" name="visual-model-heading">
            <a:extLst xmlns:a="http://schemas.openxmlformats.org/drawingml/2006/main">
              <a:ext uri="{FF2B5EF4-FFF2-40B4-BE49-F238E27FC236}">
                <a16:creationId xmlns:a16="http://schemas.microsoft.com/office/drawing/2014/main" id="{5F2C370F-5EE7-4473-A811-B03A228A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43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D"/>
                </a:solidFill>
              </a:defRPr>
            </a:pPr>
            <a:r>
              <a:rPr sz="1650" b="1">
                <a:solidFill>
                  <a:srgbClr val="17201D"/>
                </a:solidFill>
              </a:rPr>
              <a:t>gpt-image-2</a:t>
            </a:r>
          </a:p>
        </p:txBody>
      </p:sp>
      <p:sp>
        <p:nvSpPr>
          <p:cNvPr id="19" name="visual-model-body">
            <a:extLst xmlns:a="http://schemas.openxmlformats.org/drawingml/2006/main">
              <a:ext uri="{FF2B5EF4-FFF2-40B4-BE49-F238E27FC236}">
                <a16:creationId xmlns:a16="http://schemas.microsoft.com/office/drawing/2014/main" id="{8142D435-AA86-4D4C-8C1A-81D10C32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4325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D7972"/>
                </a:solidFill>
              </a:defRPr>
            </a:pPr>
            <a:r>
              <a:rPr sz="1200">
                <a:solidFill>
                  <a:srgbClr val="6D7972"/>
                </a:solidFill>
              </a:rPr>
              <a:t>主效果图</a:t>
            </a:r>
          </a:p>
          <a:p xmlns:a="http://schemas.openxmlformats.org/drawingml/2006/main">
            <a:pPr algn="l">
              <a:defRPr sz="1200">
                <a:solidFill>
                  <a:srgbClr val="6D7972"/>
                </a:solidFill>
              </a:defRPr>
            </a:pPr>
            <a:r>
              <a:rPr sz="1200">
                <a:solidFill>
                  <a:srgbClr val="6D7972"/>
                </a:solidFill>
              </a:rPr>
              <a:t>白模线稿分析图</a:t>
            </a:r>
          </a:p>
          <a:p xmlns:a="http://schemas.openxmlformats.org/drawingml/2006/main">
            <a:pPr algn="l">
              <a:defRPr sz="1200">
                <a:solidFill>
                  <a:srgbClr val="6D7972"/>
                </a:solidFill>
              </a:defRPr>
            </a:pPr>
            <a:r>
              <a:rPr sz="1200">
                <a:solidFill>
                  <a:srgbClr val="6D7972"/>
                </a:solidFill>
              </a:rPr>
              <a:t>封面主视觉</a:t>
            </a:r>
          </a:p>
        </p:txBody>
      </p:sp>
      <p:sp>
        <p:nvSpPr>
          <p:cNvPr id="20" name="visual-arrow-3-line">
            <a:extLst xmlns:a="http://schemas.openxmlformats.org/drawingml/2006/main">
              <a:ext uri="{FF2B5EF4-FFF2-40B4-BE49-F238E27FC236}">
                <a16:creationId xmlns:a16="http://schemas.microsoft.com/office/drawing/2014/main" id="{C5A6A5EE-FC5B-44DB-8FFF-33FC93F9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1470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visual-arrow-3-head">
            <a:extLst xmlns:a="http://schemas.openxmlformats.org/drawingml/2006/main">
              <a:ext uri="{FF2B5EF4-FFF2-40B4-BE49-F238E27FC236}">
                <a16:creationId xmlns:a16="http://schemas.microsoft.com/office/drawing/2014/main" id="{14FBE87E-9155-4FA9-92E2-9C271DCD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67075"/>
            <a:ext cx="171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visual-asset-surface">
            <a:extLst xmlns:a="http://schemas.openxmlformats.org/drawingml/2006/main">
              <a:ext uri="{FF2B5EF4-FFF2-40B4-BE49-F238E27FC236}">
                <a16:creationId xmlns:a16="http://schemas.microsoft.com/office/drawing/2014/main" id="{4F141560-8D9A-4347-B024-5E3D2789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09850"/>
            <a:ext cx="1504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E9"/>
          </a:solidFill>
          <a:ln xmlns:a="http://schemas.openxmlformats.org/drawingml/2006/main" w="9525">
            <a:solidFill>
              <a:srgbClr val="C7D0CA"/>
            </a:solidFill>
            <a:prstDash val="solid"/>
          </a:ln>
        </p:spPr>
      </p:sp>
      <p:sp>
        <p:nvSpPr>
          <p:cNvPr id="23" name="visual-asset-heading">
            <a:extLst xmlns:a="http://schemas.openxmlformats.org/drawingml/2006/main">
              <a:ext uri="{FF2B5EF4-FFF2-40B4-BE49-F238E27FC236}">
                <a16:creationId xmlns:a16="http://schemas.microsoft.com/office/drawing/2014/main" id="{6EE00FA4-8111-45FF-B00B-2896708A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7432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D"/>
                </a:solidFill>
              </a:defRPr>
            </a:pPr>
            <a:r>
              <a:rPr sz="1650" b="1">
                <a:solidFill>
                  <a:srgbClr val="17201D"/>
                </a:solidFill>
              </a:rPr>
              <a:t>云端资产</a:t>
            </a:r>
          </a:p>
        </p:txBody>
      </p:sp>
      <p:sp>
        <p:nvSpPr>
          <p:cNvPr id="24" name="visual-asset-body">
            <a:extLst xmlns:a="http://schemas.openxmlformats.org/drawingml/2006/main">
              <a:ext uri="{FF2B5EF4-FFF2-40B4-BE49-F238E27FC236}">
                <a16:creationId xmlns:a16="http://schemas.microsoft.com/office/drawing/2014/main" id="{D1A115DD-EB15-4654-86CC-91DD2E70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143250"/>
            <a:ext cx="1123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D7972"/>
                </a:solidFill>
              </a:defRPr>
            </a:pPr>
            <a:r>
              <a:rPr sz="1200">
                <a:solidFill>
                  <a:srgbClr val="6D7972"/>
                </a:solidFill>
              </a:rPr>
              <a:t>slot_id</a:t>
            </a:r>
          </a:p>
          <a:p xmlns:a="http://schemas.openxmlformats.org/drawingml/2006/main">
            <a:pPr algn="l">
              <a:defRPr sz="1200">
                <a:solidFill>
                  <a:srgbClr val="6D7972"/>
                </a:solidFill>
              </a:defRPr>
            </a:pPr>
            <a:r>
              <a:rPr sz="1200">
                <a:solidFill>
                  <a:srgbClr val="6D7972"/>
                </a:solidFill>
              </a:rPr>
              <a:t>版本 URL</a:t>
            </a:r>
          </a:p>
          <a:p xmlns:a="http://schemas.openxmlformats.org/drawingml/2006/main">
            <a:pPr algn="l">
              <a:defRPr sz="1200">
                <a:solidFill>
                  <a:srgbClr val="6D7972"/>
                </a:solidFill>
              </a:defRPr>
            </a:pPr>
            <a:r>
              <a:rPr sz="1200">
                <a:solidFill>
                  <a:srgbClr val="6D7972"/>
                </a:solidFill>
              </a:rPr>
              <a:t>刷新可恢复</a:t>
            </a:r>
          </a:p>
        </p:txBody>
      </p:sp>
      <p:sp>
        <p:nvSpPr>
          <p:cNvPr id="25" name="visual-callout">
            <a:extLst xmlns:a="http://schemas.openxmlformats.org/drawingml/2006/main">
              <a:ext uri="{FF2B5EF4-FFF2-40B4-BE49-F238E27FC236}">
                <a16:creationId xmlns:a16="http://schemas.microsoft.com/office/drawing/2014/main" id="{771E5FD4-7135-4C24-9377-F1F24C6C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visual-callout-text">
            <a:extLst xmlns:a="http://schemas.openxmlformats.org/drawingml/2006/main">
              <a:ext uri="{FF2B5EF4-FFF2-40B4-BE49-F238E27FC236}">
                <a16:creationId xmlns:a16="http://schemas.microsoft.com/office/drawing/2014/main" id="{775BB3AC-2DF7-4029-9E2F-C95A9718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0125"/>
            <a:ext cx="1032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同一方案 = 方案身份 + 视觉锚点 + 当前页上下文；前期不必先做三维模型，也不依赖 image-to-image。</a:t>
            </a:r>
          </a:p>
        </p:txBody>
      </p:sp>
      <p:sp>
        <p:nvSpPr>
          <p:cNvPr id="27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E760D1F4-572A-4036-A869-4F027F33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ooter-8">
            <a:extLst xmlns:a="http://schemas.openxmlformats.org/drawingml/2006/main">
              <a:ext uri="{FF2B5EF4-FFF2-40B4-BE49-F238E27FC236}">
                <a16:creationId xmlns:a16="http://schemas.microsoft.com/office/drawing/2014/main" id="{7C370F8A-C499-4218-BF79-427CDFC4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7972"/>
                </a:solidFill>
              </a:defRPr>
            </a:pPr>
            <a:r>
              <a:rPr sz="825" b="1">
                <a:solidFill>
                  <a:srgbClr val="6D7972"/>
                </a:solidFill>
              </a:rPr>
              <a:t>AI PRODUCT MANAGER · ARCHITECTURAL REPORT AGENT</a:t>
            </a:r>
          </a:p>
        </p:txBody>
      </p:sp>
      <p:sp>
        <p:nvSpPr>
          <p:cNvPr id="29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AED74334-995F-46E8-A686-36B55E29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D7972"/>
                </a:solidFill>
              </a:defRPr>
            </a:pPr>
            <a:r>
              <a:rPr sz="825" b="1">
                <a:solidFill>
                  <a:srgbClr val="6D797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641383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age-9">
            <a:extLst xmlns:a="http://schemas.openxmlformats.org/drawingml/2006/main">
              <a:ext uri="{FF2B5EF4-FFF2-40B4-BE49-F238E27FC236}">
                <a16:creationId xmlns:a16="http://schemas.microsoft.com/office/drawing/2014/main" id="{62127E0B-CD09-4877-9ECD-E63C4067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5D38"/>
                </a:solidFill>
              </a:defRPr>
            </a:pPr>
            <a:r>
              <a:rPr sz="1050" b="1">
                <a:solidFill>
                  <a:srgbClr val="D95D38"/>
                </a:solidFill>
              </a:rPr>
              <a:t>09</a:t>
            </a:r>
          </a:p>
        </p:txBody>
      </p:sp>
      <p:sp>
        <p:nvSpPr>
          <p:cNvPr id="2" name="kicker-9">
            <a:extLst xmlns:a="http://schemas.openxmlformats.org/drawingml/2006/main">
              <a:ext uri="{FF2B5EF4-FFF2-40B4-BE49-F238E27FC236}">
                <a16:creationId xmlns:a16="http://schemas.microsoft.com/office/drawing/2014/main" id="{8EB68AAB-D614-436A-9DB1-C47303E1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48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7972"/>
                </a:solidFill>
              </a:defRPr>
            </a:pPr>
            <a:r>
              <a:rPr sz="975" b="1">
                <a:solidFill>
                  <a:srgbClr val="6D7972"/>
                </a:solidFill>
              </a:rPr>
              <a:t>RELIABILITY DESIGN</a:t>
            </a:r>
          </a:p>
        </p:txBody>
      </p:sp>
      <p:sp>
        <p:nvSpPr>
          <p:cNvPr id="3" name="section-9">
            <a:extLst xmlns:a="http://schemas.openxmlformats.org/drawingml/2006/main">
              <a:ext uri="{FF2B5EF4-FFF2-40B4-BE49-F238E27FC236}">
                <a16:creationId xmlns:a16="http://schemas.microsoft.com/office/drawing/2014/main" id="{3CDAE9A5-4771-4E44-9638-22B49B0C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D7972"/>
                </a:solidFill>
              </a:defRPr>
            </a:pPr>
            <a:r>
              <a:rPr sz="975">
                <a:solidFill>
                  <a:srgbClr val="6D7972"/>
                </a:solidFill>
              </a:rPr>
              <a:t>HALLUCINATION CONTROL</a:t>
            </a:r>
          </a:p>
        </p:txBody>
      </p:sp>
      <p:sp>
        <p:nvSpPr>
          <p:cNvPr id="4" name="header-rule-9">
            <a:extLst xmlns:a="http://schemas.openxmlformats.org/drawingml/2006/main">
              <a:ext uri="{FF2B5EF4-FFF2-40B4-BE49-F238E27FC236}">
                <a16:creationId xmlns:a16="http://schemas.microsoft.com/office/drawing/2014/main" id="{DF2494A5-51B0-4930-912B-D0FE401B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uard-title">
            <a:extLst xmlns:a="http://schemas.openxmlformats.org/drawingml/2006/main">
              <a:ext uri="{FF2B5EF4-FFF2-40B4-BE49-F238E27FC236}">
                <a16:creationId xmlns:a16="http://schemas.microsoft.com/office/drawing/2014/main" id="{7F8DBE24-3017-465E-B4E4-7527A0EE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1D"/>
                </a:solidFill>
              </a:defRPr>
            </a:pPr>
            <a:r>
              <a:rPr sz="3225" b="1">
                <a:solidFill>
                  <a:srgbClr val="17201D"/>
                </a:solidFill>
              </a:rPr>
              <a:t>控制幻觉：让模型不能越过产品边界</a:t>
            </a:r>
          </a:p>
        </p:txBody>
      </p:sp>
      <p:sp>
        <p:nvSpPr>
          <p:cNvPr id="6" name="guard-title-subtitle">
            <a:extLst xmlns:a="http://schemas.openxmlformats.org/drawingml/2006/main">
              <a:ext uri="{FF2B5EF4-FFF2-40B4-BE49-F238E27FC236}">
                <a16:creationId xmlns:a16="http://schemas.microsoft.com/office/drawing/2014/main" id="{29F32985-975D-4DD3-9E56-69804A8D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6D7972"/>
                </a:solidFill>
              </a:defRPr>
            </a:pPr>
            <a:r>
              <a:rPr sz="1425">
                <a:solidFill>
                  <a:srgbClr val="6D7972"/>
                </a:solidFill>
              </a:rPr>
              <a:t>模型负责表达；规则负责边界；用户负责确认。可靠性来自多层约束，而不是一句提示词。</a:t>
            </a:r>
          </a:p>
        </p:txBody>
      </p:sp>
      <p:sp>
        <p:nvSpPr>
          <p:cNvPr id="7" name="guard-0">
            <a:extLst xmlns:a="http://schemas.openxmlformats.org/drawingml/2006/main">
              <a:ext uri="{FF2B5EF4-FFF2-40B4-BE49-F238E27FC236}">
                <a16:creationId xmlns:a16="http://schemas.microsoft.com/office/drawing/2014/main" id="{A22D005A-4FBC-4FA9-9756-8F7E55F2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uard-head-0">
            <a:extLst xmlns:a="http://schemas.openxmlformats.org/drawingml/2006/main">
              <a:ext uri="{FF2B5EF4-FFF2-40B4-BE49-F238E27FC236}">
                <a16:creationId xmlns:a16="http://schemas.microsoft.com/office/drawing/2014/main" id="{A47C9466-5BB6-40C3-8FBE-147B5FF2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1D"/>
                </a:solidFill>
              </a:defRPr>
            </a:pPr>
            <a:r>
              <a:rPr sz="1500" b="1">
                <a:solidFill>
                  <a:srgbClr val="17201D"/>
                </a:solidFill>
              </a:rPr>
              <a:t>事实层</a:t>
            </a:r>
          </a:p>
        </p:txBody>
      </p:sp>
      <p:sp>
        <p:nvSpPr>
          <p:cNvPr id="9" name="guard-label-0">
            <a:extLst xmlns:a="http://schemas.openxmlformats.org/drawingml/2006/main">
              <a:ext uri="{FF2B5EF4-FFF2-40B4-BE49-F238E27FC236}">
                <a16:creationId xmlns:a16="http://schemas.microsoft.com/office/drawing/2014/main" id="{52E2B638-7DCD-4A2A-9C5C-9460E3F0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4955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1D"/>
                </a:solidFill>
              </a:defRPr>
            </a:pPr>
            <a:r>
              <a:rPr sz="1425" b="1">
                <a:solidFill>
                  <a:srgbClr val="17201D"/>
                </a:solidFill>
              </a:rPr>
              <a:t>原文 + 页码 + 引用</a:t>
            </a:r>
          </a:p>
        </p:txBody>
      </p:sp>
      <p:sp>
        <p:nvSpPr>
          <p:cNvPr id="10" name="guard-body-0">
            <a:extLst xmlns:a="http://schemas.openxmlformats.org/drawingml/2006/main">
              <a:ext uri="{FF2B5EF4-FFF2-40B4-BE49-F238E27FC236}">
                <a16:creationId xmlns:a16="http://schemas.microsoft.com/office/drawing/2014/main" id="{82C12942-02F8-41A7-8907-6365C73E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574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D7972"/>
                </a:solidFill>
              </a:defRPr>
            </a:pPr>
            <a:r>
              <a:rPr sz="1200">
                <a:solidFill>
                  <a:srgbClr val="6D7972"/>
                </a:solidFill>
              </a:rPr>
              <a:t>没有来源的数字、预算、面积和结论不进入最终文案。</a:t>
            </a:r>
          </a:p>
        </p:txBody>
      </p:sp>
      <p:sp>
        <p:nvSpPr>
          <p:cNvPr id="11" name="guard-1">
            <a:extLst xmlns:a="http://schemas.openxmlformats.org/drawingml/2006/main">
              <a:ext uri="{FF2B5EF4-FFF2-40B4-BE49-F238E27FC236}">
                <a16:creationId xmlns:a16="http://schemas.microsoft.com/office/drawing/2014/main" id="{292A536F-86CD-44D8-8119-06B6C440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uard-head-1">
            <a:extLst xmlns:a="http://schemas.openxmlformats.org/drawingml/2006/main">
              <a:ext uri="{FF2B5EF4-FFF2-40B4-BE49-F238E27FC236}">
                <a16:creationId xmlns:a16="http://schemas.microsoft.com/office/drawing/2014/main" id="{4769088B-C848-48DC-94D5-08712182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1D"/>
                </a:solidFill>
              </a:defRPr>
            </a:pPr>
            <a:r>
              <a:rPr sz="1500" b="1">
                <a:solidFill>
                  <a:srgbClr val="17201D"/>
                </a:solidFill>
              </a:rPr>
              <a:t>语义层</a:t>
            </a:r>
          </a:p>
        </p:txBody>
      </p:sp>
      <p:sp>
        <p:nvSpPr>
          <p:cNvPr id="13" name="guard-label-1">
            <a:extLst xmlns:a="http://schemas.openxmlformats.org/drawingml/2006/main">
              <a:ext uri="{FF2B5EF4-FFF2-40B4-BE49-F238E27FC236}">
                <a16:creationId xmlns:a16="http://schemas.microsoft.com/office/drawing/2014/main" id="{61E22102-55E8-459B-BED8-18A135D1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33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1D"/>
                </a:solidFill>
              </a:defRPr>
            </a:pPr>
            <a:r>
              <a:rPr sz="1425" b="1">
                <a:solidFill>
                  <a:srgbClr val="17201D"/>
                </a:solidFill>
              </a:rPr>
              <a:t>事实 / 提案 / 历史 / 公司隔离</a:t>
            </a:r>
          </a:p>
        </p:txBody>
      </p:sp>
      <p:sp>
        <p:nvSpPr>
          <p:cNvPr id="14" name="guard-body-1">
            <a:extLst xmlns:a="http://schemas.openxmlformats.org/drawingml/2006/main">
              <a:ext uri="{FF2B5EF4-FFF2-40B4-BE49-F238E27FC236}">
                <a16:creationId xmlns:a16="http://schemas.microsoft.com/office/drawing/2014/main" id="{A43B485F-A0E5-4474-A5E7-3BD305C9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956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D7972"/>
                </a:solidFill>
              </a:defRPr>
            </a:pPr>
            <a:r>
              <a:rPr sz="1200">
                <a:solidFill>
                  <a:srgbClr val="6D7972"/>
                </a:solidFill>
              </a:rPr>
              <a:t>历史参考只提供结构与风格，不污染当前项目判断。</a:t>
            </a:r>
          </a:p>
        </p:txBody>
      </p:sp>
      <p:sp>
        <p:nvSpPr>
          <p:cNvPr id="15" name="guard-2">
            <a:extLst xmlns:a="http://schemas.openxmlformats.org/drawingml/2006/main">
              <a:ext uri="{FF2B5EF4-FFF2-40B4-BE49-F238E27FC236}">
                <a16:creationId xmlns:a16="http://schemas.microsoft.com/office/drawing/2014/main" id="{AC737464-6A10-4680-829B-3D09706E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uard-head-2">
            <a:extLst xmlns:a="http://schemas.openxmlformats.org/drawingml/2006/main">
              <a:ext uri="{FF2B5EF4-FFF2-40B4-BE49-F238E27FC236}">
                <a16:creationId xmlns:a16="http://schemas.microsoft.com/office/drawing/2014/main" id="{6C098AD6-3746-412C-A152-8CCD00EE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1D"/>
                </a:solidFill>
              </a:defRPr>
            </a:pPr>
            <a:r>
              <a:rPr sz="1500" b="1">
                <a:solidFill>
                  <a:srgbClr val="17201D"/>
                </a:solidFill>
              </a:rPr>
              <a:t>页面层</a:t>
            </a:r>
          </a:p>
        </p:txBody>
      </p:sp>
      <p:sp>
        <p:nvSpPr>
          <p:cNvPr id="17" name="guard-label-2">
            <a:extLst xmlns:a="http://schemas.openxmlformats.org/drawingml/2006/main">
              <a:ext uri="{FF2B5EF4-FFF2-40B4-BE49-F238E27FC236}">
                <a16:creationId xmlns:a16="http://schemas.microsoft.com/office/drawing/2014/main" id="{7237280D-79EE-48C0-9C1A-CCF2A31F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171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1D"/>
                </a:solidFill>
              </a:defRPr>
            </a:pPr>
            <a:r>
              <a:rPr sz="1425" b="1">
                <a:solidFill>
                  <a:srgbClr val="17201D"/>
                </a:solidFill>
              </a:rPr>
              <a:t>当前页 + 当前方案上下文</a:t>
            </a:r>
          </a:p>
        </p:txBody>
      </p:sp>
      <p:sp>
        <p:nvSpPr>
          <p:cNvPr id="18" name="guard-body-2">
            <a:extLst xmlns:a="http://schemas.openxmlformats.org/drawingml/2006/main">
              <a:ext uri="{FF2B5EF4-FFF2-40B4-BE49-F238E27FC236}">
                <a16:creationId xmlns:a16="http://schemas.microsoft.com/office/drawing/2014/main" id="{5014BD3C-CA84-4E06-AF50-5609F6CA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338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D7972"/>
                </a:solidFill>
              </a:defRPr>
            </a:pPr>
            <a:r>
              <a:rPr sz="1200">
                <a:solidFill>
                  <a:srgbClr val="6D7972"/>
                </a:solidFill>
              </a:rPr>
              <a:t>生成图和文案不携带其他方案的无关内容。</a:t>
            </a:r>
          </a:p>
        </p:txBody>
      </p:sp>
      <p:sp>
        <p:nvSpPr>
          <p:cNvPr id="19" name="guard-3">
            <a:extLst xmlns:a="http://schemas.openxmlformats.org/drawingml/2006/main">
              <a:ext uri="{FF2B5EF4-FFF2-40B4-BE49-F238E27FC236}">
                <a16:creationId xmlns:a16="http://schemas.microsoft.com/office/drawing/2014/main" id="{4012683A-FC54-4F97-9D97-E2E10B86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uard-head-3">
            <a:extLst xmlns:a="http://schemas.openxmlformats.org/drawingml/2006/main">
              <a:ext uri="{FF2B5EF4-FFF2-40B4-BE49-F238E27FC236}">
                <a16:creationId xmlns:a16="http://schemas.microsoft.com/office/drawing/2014/main" id="{697AC8C8-AA02-406C-BDF1-0232264A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1D"/>
                </a:solidFill>
              </a:defRPr>
            </a:pPr>
            <a:r>
              <a:rPr sz="1500" b="1">
                <a:solidFill>
                  <a:srgbClr val="17201D"/>
                </a:solidFill>
              </a:rPr>
              <a:t>交付层</a:t>
            </a:r>
          </a:p>
        </p:txBody>
      </p:sp>
      <p:sp>
        <p:nvSpPr>
          <p:cNvPr id="21" name="guard-label-3">
            <a:extLst xmlns:a="http://schemas.openxmlformats.org/drawingml/2006/main">
              <a:ext uri="{FF2B5EF4-FFF2-40B4-BE49-F238E27FC236}">
                <a16:creationId xmlns:a16="http://schemas.microsoft.com/office/drawing/2014/main" id="{2C10AFAB-A7B3-451C-9F9C-C81DC349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101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1D"/>
                </a:solidFill>
              </a:defRPr>
            </a:pPr>
            <a:r>
              <a:rPr sz="1425" b="1">
                <a:solidFill>
                  <a:srgbClr val="17201D"/>
                </a:solidFill>
              </a:rPr>
              <a:t>A3 测量 + 整体重写 + 云端恢复</a:t>
            </a:r>
          </a:p>
        </p:txBody>
      </p:sp>
      <p:sp>
        <p:nvSpPr>
          <p:cNvPr id="22" name="guard-body-3">
            <a:extLst xmlns:a="http://schemas.openxmlformats.org/drawingml/2006/main">
              <a:ext uri="{FF2B5EF4-FFF2-40B4-BE49-F238E27FC236}">
                <a16:creationId xmlns:a16="http://schemas.microsoft.com/office/drawing/2014/main" id="{2FA2302D-87C0-45F6-A4FC-54387941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720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D7972"/>
                </a:solidFill>
              </a:defRPr>
            </a:pPr>
            <a:r>
              <a:rPr sz="1200">
                <a:solidFill>
                  <a:srgbClr val="6D7972"/>
                </a:solidFill>
              </a:rPr>
              <a:t>溢出时重写完整句子，图片与项目资产一起保存。</a:t>
            </a:r>
          </a:p>
        </p:txBody>
      </p:sp>
      <p:sp>
        <p:nvSpPr>
          <p:cNvPr id="23" name="guard-conclusion">
            <a:extLst xmlns:a="http://schemas.openxmlformats.org/drawingml/2006/main">
              <a:ext uri="{FF2B5EF4-FFF2-40B4-BE49-F238E27FC236}">
                <a16:creationId xmlns:a16="http://schemas.microsoft.com/office/drawing/2014/main" id="{0316B281-2176-43C4-B3C7-C8A30A9C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65947"/>
                </a:solidFill>
              </a:defRPr>
            </a:pPr>
            <a:r>
              <a:rPr sz="1800" b="1">
                <a:solidFill>
                  <a:srgbClr val="365947"/>
                </a:solidFill>
              </a:rPr>
              <a:t>把不可控的生成，变成可审查的交付。</a:t>
            </a:r>
          </a:p>
        </p:txBody>
      </p:sp>
      <p:sp>
        <p:nvSpPr>
          <p:cNvPr id="24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5F8776AA-914E-4A5C-97CA-091E6932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-9">
            <a:extLst xmlns:a="http://schemas.openxmlformats.org/drawingml/2006/main">
              <a:ext uri="{FF2B5EF4-FFF2-40B4-BE49-F238E27FC236}">
                <a16:creationId xmlns:a16="http://schemas.microsoft.com/office/drawing/2014/main" id="{AD6FB386-0195-40C8-A0A5-28404B41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7972"/>
                </a:solidFill>
              </a:defRPr>
            </a:pPr>
            <a:r>
              <a:rPr sz="825" b="1">
                <a:solidFill>
                  <a:srgbClr val="6D7972"/>
                </a:solidFill>
              </a:rPr>
              <a:t>AI PRODUCT MANAGER · ARCHITECTURAL REPORT AGENT</a:t>
            </a:r>
          </a:p>
        </p:txBody>
      </p:sp>
      <p:sp>
        <p:nvSpPr>
          <p:cNvPr id="26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09C34E51-7B17-4C9D-9D3D-EA14F96F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D7972"/>
                </a:solidFill>
              </a:defRPr>
            </a:pPr>
            <a:r>
              <a:rPr sz="825" b="1">
                <a:solidFill>
                  <a:srgbClr val="6D797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071199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age-10">
            <a:extLst xmlns:a="http://schemas.openxmlformats.org/drawingml/2006/main">
              <a:ext uri="{FF2B5EF4-FFF2-40B4-BE49-F238E27FC236}">
                <a16:creationId xmlns:a16="http://schemas.microsoft.com/office/drawing/2014/main" id="{77B186E7-6274-4BA4-8533-AAB20994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5D38"/>
                </a:solidFill>
              </a:defRPr>
            </a:pPr>
            <a:r>
              <a:rPr sz="1050" b="1">
                <a:solidFill>
                  <a:srgbClr val="D95D38"/>
                </a:solidFill>
              </a:rPr>
              <a:t>10</a:t>
            </a:r>
          </a:p>
        </p:txBody>
      </p:sp>
      <p:sp>
        <p:nvSpPr>
          <p:cNvPr id="2" name="kicker-10">
            <a:extLst xmlns:a="http://schemas.openxmlformats.org/drawingml/2006/main">
              <a:ext uri="{FF2B5EF4-FFF2-40B4-BE49-F238E27FC236}">
                <a16:creationId xmlns:a16="http://schemas.microsoft.com/office/drawing/2014/main" id="{E72FA2BE-85B1-47DE-AAF7-D5828B9D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48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7972"/>
                </a:solidFill>
              </a:defRPr>
            </a:pPr>
            <a:r>
              <a:rPr sz="975" b="1">
                <a:solidFill>
                  <a:srgbClr val="6D7972"/>
                </a:solidFill>
              </a:rPr>
              <a:t>RESOURCE MODEL</a:t>
            </a:r>
          </a:p>
        </p:txBody>
      </p:sp>
      <p:sp>
        <p:nvSpPr>
          <p:cNvPr id="3" name="section-10">
            <a:extLst xmlns:a="http://schemas.openxmlformats.org/drawingml/2006/main">
              <a:ext uri="{FF2B5EF4-FFF2-40B4-BE49-F238E27FC236}">
                <a16:creationId xmlns:a16="http://schemas.microsoft.com/office/drawing/2014/main" id="{DCA91C8F-65B5-4608-8224-9363F557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D7972"/>
                </a:solidFill>
              </a:defRPr>
            </a:pPr>
            <a:r>
              <a:rPr sz="975">
                <a:solidFill>
                  <a:srgbClr val="6D7972"/>
                </a:solidFill>
              </a:rPr>
              <a:t>TOKEN ECONOMICS</a:t>
            </a:r>
          </a:p>
        </p:txBody>
      </p:sp>
      <p:sp>
        <p:nvSpPr>
          <p:cNvPr id="4" name="header-rule-10">
            <a:extLst xmlns:a="http://schemas.openxmlformats.org/drawingml/2006/main">
              <a:ext uri="{FF2B5EF4-FFF2-40B4-BE49-F238E27FC236}">
                <a16:creationId xmlns:a16="http://schemas.microsoft.com/office/drawing/2014/main" id="{9B2891FB-188F-4838-A234-F14F0F49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st-title">
            <a:extLst xmlns:a="http://schemas.openxmlformats.org/drawingml/2006/main">
              <a:ext uri="{FF2B5EF4-FFF2-40B4-BE49-F238E27FC236}">
                <a16:creationId xmlns:a16="http://schemas.microsoft.com/office/drawing/2014/main" id="{452F1B55-3368-4E65-AAD6-36B80D2A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1D"/>
                </a:solidFill>
              </a:defRPr>
            </a:pPr>
            <a:r>
              <a:rPr sz="3225" b="1">
                <a:solidFill>
                  <a:srgbClr val="17201D"/>
                </a:solidFill>
              </a:rPr>
              <a:t>一次项目要花多少模型资源？先把成本拆开</a:t>
            </a:r>
          </a:p>
        </p:txBody>
      </p:sp>
      <p:sp>
        <p:nvSpPr>
          <p:cNvPr id="6" name="cost-title-subtitle">
            <a:extLst xmlns:a="http://schemas.openxmlformats.org/drawingml/2006/main">
              <a:ext uri="{FF2B5EF4-FFF2-40B4-BE49-F238E27FC236}">
                <a16:creationId xmlns:a16="http://schemas.microsoft.com/office/drawing/2014/main" id="{D8F6C434-533F-4D8B-ADF1-AEBFEA79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6D7972"/>
                </a:solidFill>
              </a:defRPr>
            </a:pPr>
            <a:r>
              <a:rPr sz="1425">
                <a:solidFill>
                  <a:srgbClr val="6D7972"/>
                </a:solidFill>
              </a:rPr>
              <a:t>以下是按当前代码调用链和保守上下文长度做的产品估算，不是供应商账单；真实账单以服务商返回 usage 为准。</a:t>
            </a:r>
          </a:p>
        </p:txBody>
      </p:sp>
      <p:sp>
        <p:nvSpPr>
          <p:cNvPr id="7" name="cost-head-0">
            <a:extLst xmlns:a="http://schemas.openxmlformats.org/drawingml/2006/main">
              <a:ext uri="{FF2B5EF4-FFF2-40B4-BE49-F238E27FC236}">
                <a16:creationId xmlns:a16="http://schemas.microsoft.com/office/drawing/2014/main" id="{99FFA085-9D19-4478-A4AE-55A8508F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343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st-head-text-0">
            <a:extLst xmlns:a="http://schemas.openxmlformats.org/drawingml/2006/main">
              <a:ext uri="{FF2B5EF4-FFF2-40B4-BE49-F238E27FC236}">
                <a16:creationId xmlns:a16="http://schemas.microsoft.com/office/drawing/2014/main" id="{85A76B86-51A4-40CC-B6F0-DEE42FAA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环节</a:t>
            </a:r>
          </a:p>
        </p:txBody>
      </p:sp>
      <p:sp>
        <p:nvSpPr>
          <p:cNvPr id="9" name="cost-head-1">
            <a:extLst xmlns:a="http://schemas.openxmlformats.org/drawingml/2006/main">
              <a:ext uri="{FF2B5EF4-FFF2-40B4-BE49-F238E27FC236}">
                <a16:creationId xmlns:a16="http://schemas.microsoft.com/office/drawing/2014/main" id="{DCCB3914-FC18-459C-B9EA-5220A1DE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09800"/>
            <a:ext cx="2514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st-head-text-1">
            <a:extLst xmlns:a="http://schemas.openxmlformats.org/drawingml/2006/main">
              <a:ext uri="{FF2B5EF4-FFF2-40B4-BE49-F238E27FC236}">
                <a16:creationId xmlns:a16="http://schemas.microsoft.com/office/drawing/2014/main" id="{1B36CD7A-3276-4539-8A45-6BB2C416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050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模型 / 调用</a:t>
            </a:r>
          </a:p>
        </p:txBody>
      </p:sp>
      <p:sp>
        <p:nvSpPr>
          <p:cNvPr id="11" name="cost-head-2">
            <a:extLst xmlns:a="http://schemas.openxmlformats.org/drawingml/2006/main">
              <a:ext uri="{FF2B5EF4-FFF2-40B4-BE49-F238E27FC236}">
                <a16:creationId xmlns:a16="http://schemas.microsoft.com/office/drawing/2014/main" id="{212A677C-536E-4666-B29E-D93481E4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0980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st-head-text-2">
            <a:extLst xmlns:a="http://schemas.openxmlformats.org/drawingml/2006/main">
              <a:ext uri="{FF2B5EF4-FFF2-40B4-BE49-F238E27FC236}">
                <a16:creationId xmlns:a16="http://schemas.microsoft.com/office/drawing/2014/main" id="{8B0FED22-8235-473E-9F8F-C41F2E2C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0505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次数</a:t>
            </a:r>
          </a:p>
        </p:txBody>
      </p:sp>
      <p:sp>
        <p:nvSpPr>
          <p:cNvPr id="13" name="cost-head-3">
            <a:extLst xmlns:a="http://schemas.openxmlformats.org/drawingml/2006/main">
              <a:ext uri="{FF2B5EF4-FFF2-40B4-BE49-F238E27FC236}">
                <a16:creationId xmlns:a16="http://schemas.microsoft.com/office/drawing/2014/main" id="{D64ED7B3-F1F0-419D-BDB6-9E1D8AF4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0980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st-head-text-3">
            <a:extLst xmlns:a="http://schemas.openxmlformats.org/drawingml/2006/main">
              <a:ext uri="{FF2B5EF4-FFF2-40B4-BE49-F238E27FC236}">
                <a16:creationId xmlns:a16="http://schemas.microsoft.com/office/drawing/2014/main" id="{43896A9E-E083-4CEE-8C14-3ADFC5AC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0505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输入 token</a:t>
            </a:r>
          </a:p>
        </p:txBody>
      </p:sp>
      <p:sp>
        <p:nvSpPr>
          <p:cNvPr id="15" name="cost-head-4">
            <a:extLst xmlns:a="http://schemas.openxmlformats.org/drawingml/2006/main">
              <a:ext uri="{FF2B5EF4-FFF2-40B4-BE49-F238E27FC236}">
                <a16:creationId xmlns:a16="http://schemas.microsoft.com/office/drawing/2014/main" id="{663E1594-40D3-49FC-BCCB-F98083A4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0980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st-head-text-4">
            <a:extLst xmlns:a="http://schemas.openxmlformats.org/drawingml/2006/main">
              <a:ext uri="{FF2B5EF4-FFF2-40B4-BE49-F238E27FC236}">
                <a16:creationId xmlns:a16="http://schemas.microsoft.com/office/drawing/2014/main" id="{F12589CC-C99F-4D1A-986E-892F3D78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050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输出 token</a:t>
            </a:r>
          </a:p>
        </p:txBody>
      </p:sp>
      <p:sp>
        <p:nvSpPr>
          <p:cNvPr id="17" name="cost-row-0-0">
            <a:extLst xmlns:a="http://schemas.openxmlformats.org/drawingml/2006/main">
              <a:ext uri="{FF2B5EF4-FFF2-40B4-BE49-F238E27FC236}">
                <a16:creationId xmlns:a16="http://schemas.microsoft.com/office/drawing/2014/main" id="{E63F226C-CF50-4469-B378-A5B30636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st-row-text-0-0">
            <a:extLst xmlns:a="http://schemas.openxmlformats.org/drawingml/2006/main">
              <a:ext uri="{FF2B5EF4-FFF2-40B4-BE49-F238E27FC236}">
                <a16:creationId xmlns:a16="http://schemas.microsoft.com/office/drawing/2014/main" id="{8D3D776B-F7B5-47AC-8B81-0A8F1711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7652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1D"/>
                </a:solidFill>
              </a:defRPr>
            </a:pPr>
            <a:r>
              <a:rPr sz="1200" b="1">
                <a:solidFill>
                  <a:srgbClr val="17201D"/>
                </a:solidFill>
              </a:rPr>
              <a:t>任务书解析</a:t>
            </a:r>
          </a:p>
        </p:txBody>
      </p:sp>
      <p:sp>
        <p:nvSpPr>
          <p:cNvPr id="19" name="cost-row-0-1">
            <a:extLst xmlns:a="http://schemas.openxmlformats.org/drawingml/2006/main">
              <a:ext uri="{FF2B5EF4-FFF2-40B4-BE49-F238E27FC236}">
                <a16:creationId xmlns:a16="http://schemas.microsoft.com/office/drawing/2014/main" id="{DC31F29D-CA80-401F-A596-2784146B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09850"/>
            <a:ext cx="251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ost-row-text-0-1">
            <a:extLst xmlns:a="http://schemas.openxmlformats.org/drawingml/2006/main">
              <a:ext uri="{FF2B5EF4-FFF2-40B4-BE49-F238E27FC236}">
                <a16:creationId xmlns:a16="http://schemas.microsoft.com/office/drawing/2014/main" id="{2D5E3DCB-D52B-458F-82FC-996FEF6A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765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1D"/>
                </a:solidFill>
              </a:defRPr>
            </a:pPr>
            <a:r>
              <a:rPr sz="1125" b="0">
                <a:solidFill>
                  <a:srgbClr val="17201D"/>
                </a:solidFill>
              </a:rPr>
              <a:t>gpt-5.5 · 注册/事实/完整度/Planner</a:t>
            </a:r>
          </a:p>
        </p:txBody>
      </p:sp>
      <p:sp>
        <p:nvSpPr>
          <p:cNvPr id="21" name="cost-row-0-2">
            <a:extLst xmlns:a="http://schemas.openxmlformats.org/drawingml/2006/main">
              <a:ext uri="{FF2B5EF4-FFF2-40B4-BE49-F238E27FC236}">
                <a16:creationId xmlns:a16="http://schemas.microsoft.com/office/drawing/2014/main" id="{BBA3A121-39D4-4423-B427-E1D6C9DA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09850"/>
            <a:ext cx="1924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st-row-text-0-2">
            <a:extLst xmlns:a="http://schemas.openxmlformats.org/drawingml/2006/main">
              <a:ext uri="{FF2B5EF4-FFF2-40B4-BE49-F238E27FC236}">
                <a16:creationId xmlns:a16="http://schemas.microsoft.com/office/drawing/2014/main" id="{14ABDB7D-4F0A-4BC8-802C-085B11E0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765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1D"/>
                </a:solidFill>
              </a:defRPr>
            </a:pPr>
            <a:r>
              <a:rPr sz="1200" b="0">
                <a:solidFill>
                  <a:srgbClr val="17201D"/>
                </a:solidFill>
              </a:rPr>
              <a:t>4</a:t>
            </a:r>
          </a:p>
        </p:txBody>
      </p:sp>
      <p:sp>
        <p:nvSpPr>
          <p:cNvPr id="23" name="cost-row-0-3">
            <a:extLst xmlns:a="http://schemas.openxmlformats.org/drawingml/2006/main">
              <a:ext uri="{FF2B5EF4-FFF2-40B4-BE49-F238E27FC236}">
                <a16:creationId xmlns:a16="http://schemas.microsoft.com/office/drawing/2014/main" id="{024F3A93-8AA9-47F9-952F-FB478839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st-row-text-0-3">
            <a:extLst xmlns:a="http://schemas.openxmlformats.org/drawingml/2006/main">
              <a:ext uri="{FF2B5EF4-FFF2-40B4-BE49-F238E27FC236}">
                <a16:creationId xmlns:a16="http://schemas.microsoft.com/office/drawing/2014/main" id="{7504C790-36BA-4223-BAF9-B12DB06F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7652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1D"/>
                </a:solidFill>
              </a:defRPr>
            </a:pPr>
            <a:r>
              <a:rPr sz="1200" b="0">
                <a:solidFill>
                  <a:srgbClr val="17201D"/>
                </a:solidFill>
              </a:rPr>
              <a:t>8k–20k</a:t>
            </a:r>
          </a:p>
        </p:txBody>
      </p:sp>
      <p:sp>
        <p:nvSpPr>
          <p:cNvPr id="25" name="cost-row-0-4">
            <a:extLst xmlns:a="http://schemas.openxmlformats.org/drawingml/2006/main">
              <a:ext uri="{FF2B5EF4-FFF2-40B4-BE49-F238E27FC236}">
                <a16:creationId xmlns:a16="http://schemas.microsoft.com/office/drawing/2014/main" id="{E1A222EA-D2C8-42D8-B116-866E35D6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09850"/>
            <a:ext cx="1695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ost-row-text-0-4">
            <a:extLst xmlns:a="http://schemas.openxmlformats.org/drawingml/2006/main">
              <a:ext uri="{FF2B5EF4-FFF2-40B4-BE49-F238E27FC236}">
                <a16:creationId xmlns:a16="http://schemas.microsoft.com/office/drawing/2014/main" id="{82F9C501-5336-41E7-B00E-1D80CBD0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765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1D"/>
                </a:solidFill>
              </a:defRPr>
            </a:pPr>
            <a:r>
              <a:rPr sz="1200" b="0">
                <a:solidFill>
                  <a:srgbClr val="17201D"/>
                </a:solidFill>
              </a:rPr>
              <a:t>2k–8k</a:t>
            </a:r>
          </a:p>
        </p:txBody>
      </p:sp>
      <p:sp>
        <p:nvSpPr>
          <p:cNvPr id="27" name="cost-row-1-0">
            <a:extLst xmlns:a="http://schemas.openxmlformats.org/drawingml/2006/main">
              <a:ext uri="{FF2B5EF4-FFF2-40B4-BE49-F238E27FC236}">
                <a16:creationId xmlns:a16="http://schemas.microsoft.com/office/drawing/2014/main" id="{72531437-7AE6-47A1-8666-46A5DB90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st-row-text-1-0">
            <a:extLst xmlns:a="http://schemas.openxmlformats.org/drawingml/2006/main">
              <a:ext uri="{FF2B5EF4-FFF2-40B4-BE49-F238E27FC236}">
                <a16:creationId xmlns:a16="http://schemas.microsoft.com/office/drawing/2014/main" id="{1B880B2F-B0F1-4489-8656-0A7FCB57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7182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1D"/>
                </a:solidFill>
              </a:defRPr>
            </a:pPr>
            <a:r>
              <a:rPr sz="1200" b="1">
                <a:solidFill>
                  <a:srgbClr val="17201D"/>
                </a:solidFill>
              </a:rPr>
              <a:t>小型整套文案</a:t>
            </a:r>
          </a:p>
        </p:txBody>
      </p:sp>
      <p:sp>
        <p:nvSpPr>
          <p:cNvPr id="29" name="cost-row-1-1">
            <a:extLst xmlns:a="http://schemas.openxmlformats.org/drawingml/2006/main">
              <a:ext uri="{FF2B5EF4-FFF2-40B4-BE49-F238E27FC236}">
                <a16:creationId xmlns:a16="http://schemas.microsoft.com/office/drawing/2014/main" id="{C47913F0-6565-445F-B256-92AB45D1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05150"/>
            <a:ext cx="251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ost-row-text-1-1">
            <a:extLst xmlns:a="http://schemas.openxmlformats.org/drawingml/2006/main">
              <a:ext uri="{FF2B5EF4-FFF2-40B4-BE49-F238E27FC236}">
                <a16:creationId xmlns:a16="http://schemas.microsoft.com/office/drawing/2014/main" id="{D670EA23-DFF1-49D6-B0C3-E99FCE9A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718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1D"/>
                </a:solidFill>
              </a:defRPr>
            </a:pPr>
            <a:r>
              <a:rPr sz="1125" b="0">
                <a:solidFill>
                  <a:srgbClr val="17201D"/>
                </a:solidFill>
              </a:rPr>
              <a:t>gpt-5.5 · 13 页 × 1</a:t>
            </a:r>
          </a:p>
        </p:txBody>
      </p:sp>
      <p:sp>
        <p:nvSpPr>
          <p:cNvPr id="31" name="cost-row-1-2">
            <a:extLst xmlns:a="http://schemas.openxmlformats.org/drawingml/2006/main">
              <a:ext uri="{FF2B5EF4-FFF2-40B4-BE49-F238E27FC236}">
                <a16:creationId xmlns:a16="http://schemas.microsoft.com/office/drawing/2014/main" id="{04446906-D5D6-4D56-AD14-7AC6118C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05150"/>
            <a:ext cx="1924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ost-row-text-1-2">
            <a:extLst xmlns:a="http://schemas.openxmlformats.org/drawingml/2006/main">
              <a:ext uri="{FF2B5EF4-FFF2-40B4-BE49-F238E27FC236}">
                <a16:creationId xmlns:a16="http://schemas.microsoft.com/office/drawing/2014/main" id="{5CE71C0A-221D-4D98-9043-DF273C71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718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1D"/>
                </a:solidFill>
              </a:defRPr>
            </a:pPr>
            <a:r>
              <a:rPr sz="1200" b="0">
                <a:solidFill>
                  <a:srgbClr val="17201D"/>
                </a:solidFill>
              </a:rPr>
              <a:t>13</a:t>
            </a:r>
          </a:p>
        </p:txBody>
      </p:sp>
      <p:sp>
        <p:nvSpPr>
          <p:cNvPr id="33" name="cost-row-1-3">
            <a:extLst xmlns:a="http://schemas.openxmlformats.org/drawingml/2006/main">
              <a:ext uri="{FF2B5EF4-FFF2-40B4-BE49-F238E27FC236}">
                <a16:creationId xmlns:a16="http://schemas.microsoft.com/office/drawing/2014/main" id="{6943ECBD-751C-442E-A197-69C4DDD3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0515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ost-row-text-1-3">
            <a:extLst xmlns:a="http://schemas.openxmlformats.org/drawingml/2006/main">
              <a:ext uri="{FF2B5EF4-FFF2-40B4-BE49-F238E27FC236}">
                <a16:creationId xmlns:a16="http://schemas.microsoft.com/office/drawing/2014/main" id="{B1F31524-5EE7-4852-A818-F4A70CB4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7182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1D"/>
                </a:solidFill>
              </a:defRPr>
            </a:pPr>
            <a:r>
              <a:rPr sz="1200" b="0">
                <a:solidFill>
                  <a:srgbClr val="17201D"/>
                </a:solidFill>
              </a:rPr>
              <a:t>13k–26k</a:t>
            </a:r>
          </a:p>
        </p:txBody>
      </p:sp>
      <p:sp>
        <p:nvSpPr>
          <p:cNvPr id="35" name="cost-row-1-4">
            <a:extLst xmlns:a="http://schemas.openxmlformats.org/drawingml/2006/main">
              <a:ext uri="{FF2B5EF4-FFF2-40B4-BE49-F238E27FC236}">
                <a16:creationId xmlns:a16="http://schemas.microsoft.com/office/drawing/2014/main" id="{C868DD8E-444D-453C-A4AA-825C8074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05150"/>
            <a:ext cx="1695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ost-row-text-1-4">
            <a:extLst xmlns:a="http://schemas.openxmlformats.org/drawingml/2006/main">
              <a:ext uri="{FF2B5EF4-FFF2-40B4-BE49-F238E27FC236}">
                <a16:creationId xmlns:a16="http://schemas.microsoft.com/office/drawing/2014/main" id="{2A316B0D-83FE-44E3-B7FE-45AD4419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718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1D"/>
                </a:solidFill>
              </a:defRPr>
            </a:pPr>
            <a:r>
              <a:rPr sz="1200" b="0">
                <a:solidFill>
                  <a:srgbClr val="17201D"/>
                </a:solidFill>
              </a:rPr>
              <a:t>3k–6.5k</a:t>
            </a:r>
          </a:p>
        </p:txBody>
      </p:sp>
      <p:sp>
        <p:nvSpPr>
          <p:cNvPr id="37" name="cost-row-2-0">
            <a:extLst xmlns:a="http://schemas.openxmlformats.org/drawingml/2006/main">
              <a:ext uri="{FF2B5EF4-FFF2-40B4-BE49-F238E27FC236}">
                <a16:creationId xmlns:a16="http://schemas.microsoft.com/office/drawing/2014/main" id="{A5A9656B-6143-420B-8843-D8CFB039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ost-row-text-2-0">
            <a:extLst xmlns:a="http://schemas.openxmlformats.org/drawingml/2006/main">
              <a:ext uri="{FF2B5EF4-FFF2-40B4-BE49-F238E27FC236}">
                <a16:creationId xmlns:a16="http://schemas.microsoft.com/office/drawing/2014/main" id="{1978E0F9-4BCB-41C4-B13F-146E064F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6712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1D"/>
                </a:solidFill>
              </a:defRPr>
            </a:pPr>
            <a:r>
              <a:rPr sz="1200" b="1">
                <a:solidFill>
                  <a:srgbClr val="17201D"/>
                </a:solidFill>
              </a:rPr>
              <a:t>大型整套文案</a:t>
            </a:r>
          </a:p>
        </p:txBody>
      </p:sp>
      <p:sp>
        <p:nvSpPr>
          <p:cNvPr id="39" name="cost-row-2-1">
            <a:extLst xmlns:a="http://schemas.openxmlformats.org/drawingml/2006/main">
              <a:ext uri="{FF2B5EF4-FFF2-40B4-BE49-F238E27FC236}">
                <a16:creationId xmlns:a16="http://schemas.microsoft.com/office/drawing/2014/main" id="{7A0ABB40-BF90-423B-8E1E-C3BA6974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00450"/>
            <a:ext cx="251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cost-row-text-2-1">
            <a:extLst xmlns:a="http://schemas.openxmlformats.org/drawingml/2006/main">
              <a:ext uri="{FF2B5EF4-FFF2-40B4-BE49-F238E27FC236}">
                <a16:creationId xmlns:a16="http://schemas.microsoft.com/office/drawing/2014/main" id="{90C7C490-E3C0-4939-A08B-1433AEE1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671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1D"/>
                </a:solidFill>
              </a:defRPr>
            </a:pPr>
            <a:r>
              <a:rPr sz="1125" b="0">
                <a:solidFill>
                  <a:srgbClr val="17201D"/>
                </a:solidFill>
              </a:rPr>
              <a:t>gpt-5.5 · 34 页 × 1</a:t>
            </a:r>
          </a:p>
        </p:txBody>
      </p:sp>
      <p:sp>
        <p:nvSpPr>
          <p:cNvPr id="41" name="cost-row-2-2">
            <a:extLst xmlns:a="http://schemas.openxmlformats.org/drawingml/2006/main">
              <a:ext uri="{FF2B5EF4-FFF2-40B4-BE49-F238E27FC236}">
                <a16:creationId xmlns:a16="http://schemas.microsoft.com/office/drawing/2014/main" id="{F4327840-3483-4EDA-9D6A-1ECD9A86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00450"/>
            <a:ext cx="1924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cost-row-text-2-2">
            <a:extLst xmlns:a="http://schemas.openxmlformats.org/drawingml/2006/main">
              <a:ext uri="{FF2B5EF4-FFF2-40B4-BE49-F238E27FC236}">
                <a16:creationId xmlns:a16="http://schemas.microsoft.com/office/drawing/2014/main" id="{4A75F885-8A3D-4F05-A2D5-17145804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671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1D"/>
                </a:solidFill>
              </a:defRPr>
            </a:pPr>
            <a:r>
              <a:rPr sz="1200" b="0">
                <a:solidFill>
                  <a:srgbClr val="17201D"/>
                </a:solidFill>
              </a:rPr>
              <a:t>34</a:t>
            </a:r>
          </a:p>
        </p:txBody>
      </p:sp>
      <p:sp>
        <p:nvSpPr>
          <p:cNvPr id="43" name="cost-row-2-3">
            <a:extLst xmlns:a="http://schemas.openxmlformats.org/drawingml/2006/main">
              <a:ext uri="{FF2B5EF4-FFF2-40B4-BE49-F238E27FC236}">
                <a16:creationId xmlns:a16="http://schemas.microsoft.com/office/drawing/2014/main" id="{CD41B901-294E-45D1-A212-1332C224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0045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cost-row-text-2-3">
            <a:extLst xmlns:a="http://schemas.openxmlformats.org/drawingml/2006/main">
              <a:ext uri="{FF2B5EF4-FFF2-40B4-BE49-F238E27FC236}">
                <a16:creationId xmlns:a16="http://schemas.microsoft.com/office/drawing/2014/main" id="{7BBB6870-023C-4184-8155-87650F09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6712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1D"/>
                </a:solidFill>
              </a:defRPr>
            </a:pPr>
            <a:r>
              <a:rPr sz="1200" b="0">
                <a:solidFill>
                  <a:srgbClr val="17201D"/>
                </a:solidFill>
              </a:rPr>
              <a:t>34k–68k</a:t>
            </a:r>
          </a:p>
        </p:txBody>
      </p:sp>
      <p:sp>
        <p:nvSpPr>
          <p:cNvPr id="45" name="cost-row-2-4">
            <a:extLst xmlns:a="http://schemas.openxmlformats.org/drawingml/2006/main">
              <a:ext uri="{FF2B5EF4-FFF2-40B4-BE49-F238E27FC236}">
                <a16:creationId xmlns:a16="http://schemas.microsoft.com/office/drawing/2014/main" id="{B9F1F0DE-32DA-4CFA-949F-73A36F86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00450"/>
            <a:ext cx="1695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ost-row-text-2-4">
            <a:extLst xmlns:a="http://schemas.openxmlformats.org/drawingml/2006/main">
              <a:ext uri="{FF2B5EF4-FFF2-40B4-BE49-F238E27FC236}">
                <a16:creationId xmlns:a16="http://schemas.microsoft.com/office/drawing/2014/main" id="{7DE9F383-4B25-456D-9392-096D7AEF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671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1D"/>
                </a:solidFill>
              </a:defRPr>
            </a:pPr>
            <a:r>
              <a:rPr sz="1200" b="0">
                <a:solidFill>
                  <a:srgbClr val="17201D"/>
                </a:solidFill>
              </a:rPr>
              <a:t>8.5k–17k</a:t>
            </a:r>
          </a:p>
        </p:txBody>
      </p:sp>
      <p:sp>
        <p:nvSpPr>
          <p:cNvPr id="47" name="cost-row-3-0">
            <a:extLst xmlns:a="http://schemas.openxmlformats.org/drawingml/2006/main">
              <a:ext uri="{FF2B5EF4-FFF2-40B4-BE49-F238E27FC236}">
                <a16:creationId xmlns:a16="http://schemas.microsoft.com/office/drawing/2014/main" id="{19B6650C-2499-4A28-B69E-625304D7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cost-row-text-3-0">
            <a:extLst xmlns:a="http://schemas.openxmlformats.org/drawingml/2006/main">
              <a:ext uri="{FF2B5EF4-FFF2-40B4-BE49-F238E27FC236}">
                <a16:creationId xmlns:a16="http://schemas.microsoft.com/office/drawing/2014/main" id="{9DB61B2A-7EDE-473B-98E1-F44BC5F5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6242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1D"/>
                </a:solidFill>
              </a:defRPr>
            </a:pPr>
            <a:r>
              <a:rPr sz="1200" b="1">
                <a:solidFill>
                  <a:srgbClr val="17201D"/>
                </a:solidFill>
              </a:rPr>
              <a:t>审核 / 溢出重写</a:t>
            </a:r>
          </a:p>
        </p:txBody>
      </p:sp>
      <p:sp>
        <p:nvSpPr>
          <p:cNvPr id="49" name="cost-row-3-1">
            <a:extLst xmlns:a="http://schemas.openxmlformats.org/drawingml/2006/main">
              <a:ext uri="{FF2B5EF4-FFF2-40B4-BE49-F238E27FC236}">
                <a16:creationId xmlns:a16="http://schemas.microsoft.com/office/drawing/2014/main" id="{A833930A-19BA-466E-BF12-79C3455D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95750"/>
            <a:ext cx="251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cost-row-text-3-1">
            <a:extLst xmlns:a="http://schemas.openxmlformats.org/drawingml/2006/main">
              <a:ext uri="{FF2B5EF4-FFF2-40B4-BE49-F238E27FC236}">
                <a16:creationId xmlns:a16="http://schemas.microsoft.com/office/drawing/2014/main" id="{9714B30A-7CDC-4DA1-B2FE-554F203B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624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1D"/>
                </a:solidFill>
              </a:defRPr>
            </a:pPr>
            <a:r>
              <a:rPr sz="1125" b="0">
                <a:solidFill>
                  <a:srgbClr val="17201D"/>
                </a:solidFill>
              </a:rPr>
              <a:t>gpt-5.5 · 1 次 + 超页重写</a:t>
            </a:r>
          </a:p>
        </p:txBody>
      </p:sp>
      <p:sp>
        <p:nvSpPr>
          <p:cNvPr id="51" name="cost-row-3-2">
            <a:extLst xmlns:a="http://schemas.openxmlformats.org/drawingml/2006/main">
              <a:ext uri="{FF2B5EF4-FFF2-40B4-BE49-F238E27FC236}">
                <a16:creationId xmlns:a16="http://schemas.microsoft.com/office/drawing/2014/main" id="{5E46B2BA-6B55-488F-9998-7845D024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95750"/>
            <a:ext cx="1924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cost-row-text-3-2">
            <a:extLst xmlns:a="http://schemas.openxmlformats.org/drawingml/2006/main">
              <a:ext uri="{FF2B5EF4-FFF2-40B4-BE49-F238E27FC236}">
                <a16:creationId xmlns:a16="http://schemas.microsoft.com/office/drawing/2014/main" id="{057F1EAC-9E04-4CCB-BBA4-2675A6E2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624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1D"/>
                </a:solidFill>
              </a:defRPr>
            </a:pPr>
            <a:r>
              <a:rPr sz="1200" b="0">
                <a:solidFill>
                  <a:srgbClr val="17201D"/>
                </a:solidFill>
              </a:rPr>
              <a:t>1+</a:t>
            </a:r>
          </a:p>
        </p:txBody>
      </p:sp>
      <p:sp>
        <p:nvSpPr>
          <p:cNvPr id="53" name="cost-row-3-3">
            <a:extLst xmlns:a="http://schemas.openxmlformats.org/drawingml/2006/main">
              <a:ext uri="{FF2B5EF4-FFF2-40B4-BE49-F238E27FC236}">
                <a16:creationId xmlns:a16="http://schemas.microsoft.com/office/drawing/2014/main" id="{CF708B64-388C-4E37-A2CA-FC4A720C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cost-row-text-3-3">
            <a:extLst xmlns:a="http://schemas.openxmlformats.org/drawingml/2006/main">
              <a:ext uri="{FF2B5EF4-FFF2-40B4-BE49-F238E27FC236}">
                <a16:creationId xmlns:a16="http://schemas.microsoft.com/office/drawing/2014/main" id="{55E5F2E8-5471-4DDD-B5A0-A458B633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6242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1D"/>
                </a:solidFill>
              </a:defRPr>
            </a:pPr>
            <a:r>
              <a:rPr sz="1200" b="0">
                <a:solidFill>
                  <a:srgbClr val="17201D"/>
                </a:solidFill>
              </a:rPr>
              <a:t>4k–12k</a:t>
            </a:r>
          </a:p>
        </p:txBody>
      </p:sp>
      <p:sp>
        <p:nvSpPr>
          <p:cNvPr id="55" name="cost-row-3-4">
            <a:extLst xmlns:a="http://schemas.openxmlformats.org/drawingml/2006/main">
              <a:ext uri="{FF2B5EF4-FFF2-40B4-BE49-F238E27FC236}">
                <a16:creationId xmlns:a16="http://schemas.microsoft.com/office/drawing/2014/main" id="{2A884B91-C13F-4582-A1E9-709F10C0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95750"/>
            <a:ext cx="1695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cost-row-text-3-4">
            <a:extLst xmlns:a="http://schemas.openxmlformats.org/drawingml/2006/main">
              <a:ext uri="{FF2B5EF4-FFF2-40B4-BE49-F238E27FC236}">
                <a16:creationId xmlns:a16="http://schemas.microsoft.com/office/drawing/2014/main" id="{F8FBE5EB-0C1E-4AB0-A8B4-DEF61A4E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1624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1D"/>
                </a:solidFill>
              </a:defRPr>
            </a:pPr>
            <a:r>
              <a:rPr sz="1200" b="0">
                <a:solidFill>
                  <a:srgbClr val="17201D"/>
                </a:solidFill>
              </a:rPr>
              <a:t>1k–4k</a:t>
            </a:r>
          </a:p>
        </p:txBody>
      </p:sp>
      <p:sp>
        <p:nvSpPr>
          <p:cNvPr id="57" name="cost-row-4-0">
            <a:extLst xmlns:a="http://schemas.openxmlformats.org/drawingml/2006/main">
              <a:ext uri="{FF2B5EF4-FFF2-40B4-BE49-F238E27FC236}">
                <a16:creationId xmlns:a16="http://schemas.microsoft.com/office/drawing/2014/main" id="{7F3D1313-1E45-4F4F-A11C-64F88D0F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cost-row-text-4-0">
            <a:extLst xmlns:a="http://schemas.openxmlformats.org/drawingml/2006/main">
              <a:ext uri="{FF2B5EF4-FFF2-40B4-BE49-F238E27FC236}">
                <a16:creationId xmlns:a16="http://schemas.microsoft.com/office/drawing/2014/main" id="{F28B5D5D-9526-4908-B172-600E250B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5772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1D"/>
                </a:solidFill>
              </a:defRPr>
            </a:pPr>
            <a:r>
              <a:rPr sz="1200" b="1">
                <a:solidFill>
                  <a:srgbClr val="17201D"/>
                </a:solidFill>
              </a:rPr>
              <a:t>图片槽</a:t>
            </a:r>
          </a:p>
        </p:txBody>
      </p:sp>
      <p:sp>
        <p:nvSpPr>
          <p:cNvPr id="59" name="cost-row-4-1">
            <a:extLst xmlns:a="http://schemas.openxmlformats.org/drawingml/2006/main">
              <a:ext uri="{FF2B5EF4-FFF2-40B4-BE49-F238E27FC236}">
                <a16:creationId xmlns:a16="http://schemas.microsoft.com/office/drawing/2014/main" id="{9FC46277-88CD-405F-BC73-1F2F0369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91050"/>
            <a:ext cx="251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cost-row-text-4-1">
            <a:extLst xmlns:a="http://schemas.openxmlformats.org/drawingml/2006/main">
              <a:ext uri="{FF2B5EF4-FFF2-40B4-BE49-F238E27FC236}">
                <a16:creationId xmlns:a16="http://schemas.microsoft.com/office/drawing/2014/main" id="{93C994CC-B676-4514-922F-B9172170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577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1D"/>
                </a:solidFill>
              </a:defRPr>
            </a:pPr>
            <a:r>
              <a:rPr sz="1125" b="0">
                <a:solidFill>
                  <a:srgbClr val="17201D"/>
                </a:solidFill>
              </a:rPr>
              <a:t>gpt-image-2 · 每个未完成槽 1 次</a:t>
            </a:r>
          </a:p>
        </p:txBody>
      </p:sp>
      <p:sp>
        <p:nvSpPr>
          <p:cNvPr id="61" name="cost-row-4-2">
            <a:extLst xmlns:a="http://schemas.openxmlformats.org/drawingml/2006/main">
              <a:ext uri="{FF2B5EF4-FFF2-40B4-BE49-F238E27FC236}">
                <a16:creationId xmlns:a16="http://schemas.microsoft.com/office/drawing/2014/main" id="{39D8A961-9576-4398-8AA6-21BE51E7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91050"/>
            <a:ext cx="1924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cost-row-text-4-2">
            <a:extLst xmlns:a="http://schemas.openxmlformats.org/drawingml/2006/main">
              <a:ext uri="{FF2B5EF4-FFF2-40B4-BE49-F238E27FC236}">
                <a16:creationId xmlns:a16="http://schemas.microsoft.com/office/drawing/2014/main" id="{9B566969-7C16-4CD9-AC45-0555F04F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6577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1D"/>
                </a:solidFill>
              </a:defRPr>
            </a:pPr>
            <a:r>
              <a:rPr sz="1200" b="0">
                <a:solidFill>
                  <a:srgbClr val="17201D"/>
                </a:solidFill>
              </a:rPr>
              <a:t>N</a:t>
            </a:r>
          </a:p>
        </p:txBody>
      </p:sp>
      <p:sp>
        <p:nvSpPr>
          <p:cNvPr id="63" name="cost-row-4-3">
            <a:extLst xmlns:a="http://schemas.openxmlformats.org/drawingml/2006/main">
              <a:ext uri="{FF2B5EF4-FFF2-40B4-BE49-F238E27FC236}">
                <a16:creationId xmlns:a16="http://schemas.microsoft.com/office/drawing/2014/main" id="{7A5FE444-3C1A-450E-9594-D9B51018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9105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cost-row-text-4-3">
            <a:extLst xmlns:a="http://schemas.openxmlformats.org/drawingml/2006/main">
              <a:ext uri="{FF2B5EF4-FFF2-40B4-BE49-F238E27FC236}">
                <a16:creationId xmlns:a16="http://schemas.microsoft.com/office/drawing/2014/main" id="{1F61884A-2636-4A87-AEF5-FB7628A7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5772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1D"/>
                </a:solidFill>
              </a:defRPr>
            </a:pPr>
            <a:r>
              <a:rPr sz="1200" b="0">
                <a:solidFill>
                  <a:srgbClr val="17201D"/>
                </a:solidFill>
              </a:rPr>
              <a:t>80–200 / 槽</a:t>
            </a:r>
          </a:p>
        </p:txBody>
      </p:sp>
      <p:sp>
        <p:nvSpPr>
          <p:cNvPr id="65" name="cost-row-4-4">
            <a:extLst xmlns:a="http://schemas.openxmlformats.org/drawingml/2006/main">
              <a:ext uri="{FF2B5EF4-FFF2-40B4-BE49-F238E27FC236}">
                <a16:creationId xmlns:a16="http://schemas.microsoft.com/office/drawing/2014/main" id="{D1A8242C-E974-4A77-973B-C1D33ECF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91050"/>
            <a:ext cx="1695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cost-row-text-4-4">
            <a:extLst xmlns:a="http://schemas.openxmlformats.org/drawingml/2006/main">
              <a:ext uri="{FF2B5EF4-FFF2-40B4-BE49-F238E27FC236}">
                <a16:creationId xmlns:a16="http://schemas.microsoft.com/office/drawing/2014/main" id="{05B5C597-D1F7-4A53-9CDA-EFEBEA61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6577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1D"/>
                </a:solidFill>
              </a:defRPr>
            </a:pPr>
            <a:r>
              <a:rPr sz="1200" b="0">
                <a:solidFill>
                  <a:srgbClr val="17201D"/>
                </a:solidFill>
              </a:rPr>
              <a:t>0*</a:t>
            </a:r>
          </a:p>
        </p:txBody>
      </p:sp>
      <p:sp>
        <p:nvSpPr>
          <p:cNvPr id="67" name="cost-note">
            <a:extLst xmlns:a="http://schemas.openxmlformats.org/drawingml/2006/main">
              <a:ext uri="{FF2B5EF4-FFF2-40B4-BE49-F238E27FC236}">
                <a16:creationId xmlns:a16="http://schemas.microsoft.com/office/drawing/2014/main" id="{ED0A26D1-A2A1-4A67-86D3-2C4FF7F6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D7972"/>
                </a:solidFill>
              </a:defRPr>
            </a:pPr>
            <a:r>
              <a:rPr sz="1125">
                <a:solidFill>
                  <a:srgbClr val="6D7972"/>
                </a:solidFill>
              </a:rPr>
              <a:t>* 图像接口通常不返回文本 completion output token；产品记录 prompt 输入估算，图片成本按图像模型单价另计。总结页复用主效果图，不重复调用。</a:t>
            </a:r>
          </a:p>
        </p:txBody>
      </p:sp>
      <p:sp>
        <p:nvSpPr>
          <p:cNvPr id="68" name="cost-formula">
            <a:extLst xmlns:a="http://schemas.openxmlformats.org/drawingml/2006/main">
              <a:ext uri="{FF2B5EF4-FFF2-40B4-BE49-F238E27FC236}">
                <a16:creationId xmlns:a16="http://schemas.microsoft.com/office/drawing/2014/main" id="{1FA32C79-01FA-45B6-A41B-2ADE535F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9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cost-formula-text">
            <a:extLst xmlns:a="http://schemas.openxmlformats.org/drawingml/2006/main">
              <a:ext uri="{FF2B5EF4-FFF2-40B4-BE49-F238E27FC236}">
                <a16:creationId xmlns:a16="http://schemas.microsoft.com/office/drawing/2014/main" id="{C7163CDA-0150-46E1-A4E8-8EE2912E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48350"/>
            <a:ext cx="1043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产品成本公式 = 文本输入 + 文本输出 + 图片槽调用数 × 图像模型单价</a:t>
            </a:r>
          </a:p>
        </p:txBody>
      </p:sp>
      <p:sp>
        <p:nvSpPr>
          <p:cNvPr id="70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00F6FC71-DA90-4E43-90D3-10793C93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footer-10">
            <a:extLst xmlns:a="http://schemas.openxmlformats.org/drawingml/2006/main">
              <a:ext uri="{FF2B5EF4-FFF2-40B4-BE49-F238E27FC236}">
                <a16:creationId xmlns:a16="http://schemas.microsoft.com/office/drawing/2014/main" id="{D56C3F34-713F-4C7D-AFB5-AF5D573A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7972"/>
                </a:solidFill>
              </a:defRPr>
            </a:pPr>
            <a:r>
              <a:rPr sz="825" b="1">
                <a:solidFill>
                  <a:srgbClr val="6D7972"/>
                </a:solidFill>
              </a:rPr>
              <a:t>AI PRODUCT MANAGER · ARCHITECTURAL REPORT AGENT</a:t>
            </a:r>
          </a:p>
        </p:txBody>
      </p:sp>
      <p:sp>
        <p:nvSpPr>
          <p:cNvPr id="72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8057E542-BBEF-465D-8B3B-65221A65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D7972"/>
                </a:solidFill>
              </a:defRPr>
            </a:pPr>
            <a:r>
              <a:rPr sz="825" b="1">
                <a:solidFill>
                  <a:srgbClr val="6D797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552183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2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394C37FA-08E7-4080-983B-71A9CD0E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3335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E7573589-D4A8-417E-81FD-4D673678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096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C7BF"/>
                </a:solidFill>
              </a:defRPr>
            </a:pPr>
            <a:r>
              <a:rPr sz="1200" b="1">
                <a:solidFill>
                  <a:srgbClr val="B9C7BF"/>
                </a:solidFill>
              </a:rPr>
              <a:t>PRODUCT COMPETITIVENESS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4D47AC28-E65F-4835-902E-9B8642AA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8477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降本增效，不是少点几次按钮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而是少做几轮无效返工</a:t>
            </a:r>
          </a:p>
        </p:txBody>
      </p:sp>
      <p:sp>
        <p:nvSpPr>
          <p:cNvPr id="4" name="edge-1-surface">
            <a:extLst xmlns:a="http://schemas.openxmlformats.org/drawingml/2006/main">
              <a:ext uri="{FF2B5EF4-FFF2-40B4-BE49-F238E27FC236}">
                <a16:creationId xmlns:a16="http://schemas.microsoft.com/office/drawing/2014/main" id="{73CDEA8A-86CA-4052-96DD-060531F6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52800"/>
            <a:ext cx="2743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edge-1-value">
            <a:extLst xmlns:a="http://schemas.openxmlformats.org/drawingml/2006/main">
              <a:ext uri="{FF2B5EF4-FFF2-40B4-BE49-F238E27FC236}">
                <a16:creationId xmlns:a16="http://schemas.microsoft.com/office/drawing/2014/main" id="{892E83A8-744E-4F23-A92E-1274CD01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861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5D38"/>
                </a:solidFill>
              </a:defRPr>
            </a:pPr>
            <a:r>
              <a:rPr sz="2325" b="1">
                <a:solidFill>
                  <a:srgbClr val="D95D38"/>
                </a:solidFill>
              </a:rPr>
              <a:t>1</a:t>
            </a:r>
          </a:p>
        </p:txBody>
      </p:sp>
      <p:sp>
        <p:nvSpPr>
          <p:cNvPr id="6" name="edge-1-label">
            <a:extLst xmlns:a="http://schemas.openxmlformats.org/drawingml/2006/main">
              <a:ext uri="{FF2B5EF4-FFF2-40B4-BE49-F238E27FC236}">
                <a16:creationId xmlns:a16="http://schemas.microsoft.com/office/drawing/2014/main" id="{6FF44D0D-3CEB-4C5B-AC39-90ADE509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43350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D7972"/>
                </a:solidFill>
              </a:defRPr>
            </a:pPr>
            <a:r>
              <a:rPr sz="1200">
                <a:solidFill>
                  <a:srgbClr val="6D7972"/>
                </a:solidFill>
              </a:rPr>
              <a:t>份任务书 → 一条结构化链路</a:t>
            </a:r>
          </a:p>
        </p:txBody>
      </p:sp>
      <p:sp>
        <p:nvSpPr>
          <p:cNvPr id="7" name="edge-2-surface">
            <a:extLst xmlns:a="http://schemas.openxmlformats.org/drawingml/2006/main">
              <a:ext uri="{FF2B5EF4-FFF2-40B4-BE49-F238E27FC236}">
                <a16:creationId xmlns:a16="http://schemas.microsoft.com/office/drawing/2014/main" id="{26AB3BA7-B53A-4F5F-9AEF-296412C6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52800"/>
            <a:ext cx="2743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dge-2-value">
            <a:extLst xmlns:a="http://schemas.openxmlformats.org/drawingml/2006/main">
              <a:ext uri="{FF2B5EF4-FFF2-40B4-BE49-F238E27FC236}">
                <a16:creationId xmlns:a16="http://schemas.microsoft.com/office/drawing/2014/main" id="{4441B5C9-E834-40B9-ABCA-F3A756E3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861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DE8DF"/>
                </a:solidFill>
              </a:defRPr>
            </a:pPr>
            <a:r>
              <a:rPr sz="2325" b="1">
                <a:solidFill>
                  <a:srgbClr val="DDE8DF"/>
                </a:solidFill>
              </a:rPr>
              <a:t>2</a:t>
            </a:r>
          </a:p>
        </p:txBody>
      </p:sp>
      <p:sp>
        <p:nvSpPr>
          <p:cNvPr id="9" name="edge-2-label">
            <a:extLst xmlns:a="http://schemas.openxmlformats.org/drawingml/2006/main">
              <a:ext uri="{FF2B5EF4-FFF2-40B4-BE49-F238E27FC236}">
                <a16:creationId xmlns:a16="http://schemas.microsoft.com/office/drawing/2014/main" id="{E789EB9E-769B-4D9D-828C-6A68DEBD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43350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D7972"/>
                </a:solidFill>
              </a:defRPr>
            </a:pPr>
            <a:r>
              <a:rPr sz="1200">
                <a:solidFill>
                  <a:srgbClr val="6D7972"/>
                </a:solidFill>
              </a:rPr>
              <a:t>种管线 → 匹配两种决策深度</a:t>
            </a:r>
          </a:p>
        </p:txBody>
      </p:sp>
      <p:sp>
        <p:nvSpPr>
          <p:cNvPr id="10" name="edge-3-surface">
            <a:extLst xmlns:a="http://schemas.openxmlformats.org/drawingml/2006/main">
              <a:ext uri="{FF2B5EF4-FFF2-40B4-BE49-F238E27FC236}">
                <a16:creationId xmlns:a16="http://schemas.microsoft.com/office/drawing/2014/main" id="{14F29A30-F8E1-4307-A503-51B60B33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52800"/>
            <a:ext cx="2743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dge-3-value">
            <a:extLst xmlns:a="http://schemas.openxmlformats.org/drawingml/2006/main">
              <a:ext uri="{FF2B5EF4-FFF2-40B4-BE49-F238E27FC236}">
                <a16:creationId xmlns:a16="http://schemas.microsoft.com/office/drawing/2014/main" id="{A97E1D15-1FB4-4BDC-B50A-50A49CE8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861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12" name="edge-3-label">
            <a:extLst xmlns:a="http://schemas.openxmlformats.org/drawingml/2006/main">
              <a:ext uri="{FF2B5EF4-FFF2-40B4-BE49-F238E27FC236}">
                <a16:creationId xmlns:a16="http://schemas.microsoft.com/office/drawing/2014/main" id="{31932E36-5936-4824-88E1-4209EB2D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943350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D7972"/>
                </a:solidFill>
              </a:defRPr>
            </a:pPr>
            <a:r>
              <a:rPr sz="1200">
                <a:solidFill>
                  <a:srgbClr val="6D7972"/>
                </a:solidFill>
              </a:rPr>
              <a:t>个资产 → 云端可恢复、可复用</a:t>
            </a:r>
          </a:p>
        </p:txBody>
      </p:sp>
      <p:sp>
        <p:nvSpPr>
          <p:cNvPr id="13" name="close-body">
            <a:extLst xmlns:a="http://schemas.openxmlformats.org/drawingml/2006/main">
              <a:ext uri="{FF2B5EF4-FFF2-40B4-BE49-F238E27FC236}">
                <a16:creationId xmlns:a16="http://schemas.microsoft.com/office/drawing/2014/main" id="{C3152D54-5129-4123-A6A2-B69BFD32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D5E0D8"/>
                </a:solidFill>
              </a:defRPr>
            </a:pPr>
            <a:r>
              <a:rPr sz="1500">
                <a:solidFill>
                  <a:srgbClr val="D5E0D8"/>
                </a:solidFill>
              </a:rPr>
              <a:t>对 B 端设计公司：把团队经验固化为可追溯流程，减少前期建模与返工。</a:t>
            </a:r>
          </a:p>
          <a:p xmlns:a="http://schemas.openxmlformats.org/drawingml/2006/main">
            <a:pPr algn="l">
              <a:defRPr sz="1500">
                <a:solidFill>
                  <a:srgbClr val="D5E0D8"/>
                </a:solidFill>
              </a:defRPr>
            </a:pPr>
            <a:r>
              <a:rPr sz="1500">
                <a:solidFill>
                  <a:srgbClr val="D5E0D8"/>
                </a:solidFill>
              </a:rPr>
              <a:t>对 OPC 用户：一个人也能从任务书走到同一方案的可编辑交付。</a:t>
            </a:r>
          </a:p>
        </p:txBody>
      </p:sp>
      <p:sp>
        <p:nvSpPr>
          <p:cNvPr id="14" name="close-rule">
            <a:extLst xmlns:a="http://schemas.openxmlformats.org/drawingml/2006/main">
              <a:ext uri="{FF2B5EF4-FFF2-40B4-BE49-F238E27FC236}">
                <a16:creationId xmlns:a16="http://schemas.microsoft.com/office/drawing/2014/main" id="{360B84CF-8736-4414-B64E-BD980532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53100"/>
            <a:ext cx="390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lose-foot">
            <a:extLst xmlns:a="http://schemas.openxmlformats.org/drawingml/2006/main">
              <a:ext uri="{FF2B5EF4-FFF2-40B4-BE49-F238E27FC236}">
                <a16:creationId xmlns:a16="http://schemas.microsoft.com/office/drawing/2014/main" id="{690D59D5-96A0-4D20-BE7D-58374063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9055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AAB8B0"/>
                </a:solidFill>
              </a:defRPr>
            </a:pPr>
            <a:r>
              <a:rPr sz="1275">
                <a:solidFill>
                  <a:srgbClr val="AAB8B0"/>
                </a:solidFill>
              </a:rPr>
              <a:t>建筑设计汇报文本 Agent · AI 产品经理作品集</a:t>
            </a:r>
          </a:p>
        </p:txBody>
      </p:sp>
      <p:sp>
        <p:nvSpPr>
          <p:cNvPr id="16" name="close-mark">
            <a:extLst xmlns:a="http://schemas.openxmlformats.org/drawingml/2006/main">
              <a:ext uri="{FF2B5EF4-FFF2-40B4-BE49-F238E27FC236}">
                <a16:creationId xmlns:a16="http://schemas.microsoft.com/office/drawing/2014/main" id="{5C6A8F0E-77CA-4B36-A45B-7DAA4709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42925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4050" b="1">
                <a:solidFill>
                  <a:srgbClr val="D95D38"/>
                </a:solidFill>
              </a:defRPr>
            </a:pPr>
            <a:r>
              <a:rPr sz="4050" b="1">
                <a:solidFill>
                  <a:srgbClr val="D95D3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204487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2026-08-27T00:55:41.0810000Z</dcterms:created>
  <dcterms:modified xsi:type="dcterms:W3CDTF">2026-08-27T00:55:41.0810000Z</dcterms:modified>
</coreProperties>
</file>