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1514811dff4551" /><Relationship Type="http://schemas.openxmlformats.org/officeDocument/2006/relationships/extended-properties" Target="/docProps/app.xml" Id="R94b60e2326de44cb" /><Relationship Type="http://schemas.openxmlformats.org/officeDocument/2006/relationships/officeDocument" Target="/ppt/presentation.xml" Id="R241dbd8cf4974a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9a69cd2f874582"/>
  </p:sldMasterIdLst>
  <p:notesMasterIdLst>
    <p:notesMasterId xmlns:r="http://schemas.openxmlformats.org/officeDocument/2006/relationships" r:id="R7a22424f472e471c"/>
  </p:notesMasterIdLst>
  <p:sldIdLst>
    <p:sldId xmlns:r="http://schemas.openxmlformats.org/officeDocument/2006/relationships" id="256" r:id="Rd7bef4b0718b45d8"/>
    <p:sldId xmlns:r="http://schemas.openxmlformats.org/officeDocument/2006/relationships" id="257" r:id="R25a516f5231a48b4"/>
    <p:sldId xmlns:r="http://schemas.openxmlformats.org/officeDocument/2006/relationships" id="258" r:id="Rcdee1ef75f2e4127"/>
    <p:sldId xmlns:r="http://schemas.openxmlformats.org/officeDocument/2006/relationships" id="259" r:id="Rf1983cd830544c42"/>
    <p:sldId xmlns:r="http://schemas.openxmlformats.org/officeDocument/2006/relationships" id="260" r:id="R10fa07c8bab846a9"/>
    <p:sldId xmlns:r="http://schemas.openxmlformats.org/officeDocument/2006/relationships" id="261" r:id="R1b0124fca55a4c19"/>
    <p:sldId xmlns:r="http://schemas.openxmlformats.org/officeDocument/2006/relationships" id="262" r:id="Rd5482ab2c82a4277"/>
    <p:sldId xmlns:r="http://schemas.openxmlformats.org/officeDocument/2006/relationships" id="263" r:id="Rf80a11f428314b16"/>
    <p:sldId xmlns:r="http://schemas.openxmlformats.org/officeDocument/2006/relationships" id="264" r:id="Rb6d6c0d6169c4d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dfd7709b8d4028" /><Relationship Type="http://schemas.openxmlformats.org/officeDocument/2006/relationships/slideMaster" Target="/ppt/slideMasters/slideMaster1.xml" Id="R729a69cd2f874582" /><Relationship Type="http://schemas.openxmlformats.org/officeDocument/2006/relationships/notesMaster" Target="/ppt/notesMasters/notesMaster1.xml" Id="R7a22424f472e471c" /><Relationship Type="http://schemas.openxmlformats.org/officeDocument/2006/relationships/presProps" Target="/ppt/presProps.xml" Id="R62518018744f4cac" /><Relationship Type="http://schemas.openxmlformats.org/officeDocument/2006/relationships/tableStyles" Target="/ppt/tableStyles.xml" Id="R4b68c1376e2b4ac8" /><Relationship Type="http://schemas.openxmlformats.org/officeDocument/2006/relationships/slide" Target="/ppt/slides/slide1.xml" Id="Rd7bef4b0718b45d8" /><Relationship Type="http://schemas.openxmlformats.org/officeDocument/2006/relationships/slide" Target="/ppt/slides/slide2.xml" Id="R25a516f5231a48b4" /><Relationship Type="http://schemas.openxmlformats.org/officeDocument/2006/relationships/slide" Target="/ppt/slides/slide3.xml" Id="Rcdee1ef75f2e4127" /><Relationship Type="http://schemas.openxmlformats.org/officeDocument/2006/relationships/slide" Target="/ppt/slides/slide4.xml" Id="Rf1983cd830544c42" /><Relationship Type="http://schemas.openxmlformats.org/officeDocument/2006/relationships/slide" Target="/ppt/slides/slide5.xml" Id="R10fa07c8bab846a9" /><Relationship Type="http://schemas.openxmlformats.org/officeDocument/2006/relationships/slide" Target="/ppt/slides/slide6.xml" Id="R1b0124fca55a4c19" /><Relationship Type="http://schemas.openxmlformats.org/officeDocument/2006/relationships/slide" Target="/ppt/slides/slide7.xml" Id="Rd5482ab2c82a4277" /><Relationship Type="http://schemas.openxmlformats.org/officeDocument/2006/relationships/slide" Target="/ppt/slides/slide8.xml" Id="Rf80a11f428314b16" /><Relationship Type="http://schemas.openxmlformats.org/officeDocument/2006/relationships/slide" Target="/ppt/slides/slide9.xml" Id="Rb6d6c0d6169c4d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cfb48b9c674b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3a587cfceb4ba1" /><Relationship Type="http://schemas.openxmlformats.org/officeDocument/2006/relationships/notesMaster" Target="/ppt/notesMasters/notesMaster1.xml" Id="R171e80035e3140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8abed32ea44d5e" /><Relationship Type="http://schemas.openxmlformats.org/officeDocument/2006/relationships/notesMaster" Target="/ppt/notesMasters/notesMaster1.xml" Id="R1e09ba013dc64c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bd71ace0de477d" /><Relationship Type="http://schemas.openxmlformats.org/officeDocument/2006/relationships/notesMaster" Target="/ppt/notesMasters/notesMaster1.xml" Id="Rb0fd3253e0c84f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3a7fe1d7ab4453" /><Relationship Type="http://schemas.openxmlformats.org/officeDocument/2006/relationships/notesMaster" Target="/ppt/notesMasters/notesMaster1.xml" Id="R0a3b95ce94fe41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8c78642c134b0b" /><Relationship Type="http://schemas.openxmlformats.org/officeDocument/2006/relationships/notesMaster" Target="/ppt/notesMasters/notesMaster1.xml" Id="R2d26d5955ac043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74ecd427e043c2" /><Relationship Type="http://schemas.openxmlformats.org/officeDocument/2006/relationships/notesMaster" Target="/ppt/notesMasters/notesMaster1.xml" Id="R2ddb9b2e601040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69b3dda4cb40d3" /><Relationship Type="http://schemas.openxmlformats.org/officeDocument/2006/relationships/notesMaster" Target="/ppt/notesMasters/notesMaster1.xml" Id="R784249312ffa48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449383df014555" /><Relationship Type="http://schemas.openxmlformats.org/officeDocument/2006/relationships/notesMaster" Target="/ppt/notesMasters/notesMaster1.xml" Id="Raff711ba6a5349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9acd253f684089" /><Relationship Type="http://schemas.openxmlformats.org/officeDocument/2006/relationships/notesMaster" Target="/ppt/notesMasters/notesMaster1.xml" Id="R7c1437a93a114e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4608a426049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249e0e480a4da3" /><Relationship Type="http://schemas.openxmlformats.org/officeDocument/2006/relationships/slideLayout" Target="/ppt/slideLayouts/slideLayout1.xml" Id="R54b7b02959094c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7b02959094c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5b3d3cd5c4e34" /><Relationship Type="http://schemas.openxmlformats.org/officeDocument/2006/relationships/notesSlide" Target="/ppt/notesSlides/notesSlide1.xml" Id="R2564594911c84d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6c007a562452a" /><Relationship Type="http://schemas.openxmlformats.org/officeDocument/2006/relationships/notesSlide" Target="/ppt/notesSlides/notesSlide2.xml" Id="R7ab9dddc847740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6e9e200274325" /><Relationship Type="http://schemas.openxmlformats.org/officeDocument/2006/relationships/notesSlide" Target="/ppt/notesSlides/notesSlide3.xml" Id="R25910baf9f7047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dc2d63df34248" /><Relationship Type="http://schemas.openxmlformats.org/officeDocument/2006/relationships/notesSlide" Target="/ppt/notesSlides/notesSlide4.xml" Id="Recc551014fa54c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0ca632a194e11" /><Relationship Type="http://schemas.openxmlformats.org/officeDocument/2006/relationships/notesSlide" Target="/ppt/notesSlides/notesSlide5.xml" Id="Raa9630640c3a43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0d190a0334a6b" /><Relationship Type="http://schemas.openxmlformats.org/officeDocument/2006/relationships/notesSlide" Target="/ppt/notesSlides/notesSlide6.xml" Id="Rf0a26b8ff70446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db6dceb1b4be1" /><Relationship Type="http://schemas.openxmlformats.org/officeDocument/2006/relationships/notesSlide" Target="/ppt/notesSlides/notesSlide7.xml" Id="Rd52fa978f67e4c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b798dbd294a57" /><Relationship Type="http://schemas.openxmlformats.org/officeDocument/2006/relationships/notesSlide" Target="/ppt/notesSlides/notesSlide8.xml" Id="Rf8cea747956840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aeada771843c4" /><Relationship Type="http://schemas.openxmlformats.org/officeDocument/2006/relationships/notesSlide" Target="/ppt/notesSlides/notesSlide9.xml" Id="R91f6a97d5a4344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0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A2177CC6-7648-4DD6-817D-AD609376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33350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4ACC8A3E-B94F-458A-8613-57B10DCE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52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C7BF"/>
                </a:solidFill>
              </a:defRPr>
            </a:pPr>
            <a:r>
              <a:rPr sz="1200" b="1">
                <a:solidFill>
                  <a:srgbClr val="B9C7BF"/>
                </a:solidFill>
              </a:rPr>
              <a:t>AI PRODUCT MANAGER · WORK SAMPLE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3FCBEC1-C21A-47EC-8564-0044F52A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7239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把任务书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变成可交付的设计汇报</a:t>
            </a:r>
          </a:p>
        </p:txBody>
      </p:sp>
      <p:sp>
        <p:nvSpPr>
          <p:cNvPr id="4" name="cover-sub">
            <a:extLst xmlns:a="http://schemas.openxmlformats.org/drawingml/2006/main">
              <a:ext uri="{FF2B5EF4-FFF2-40B4-BE49-F238E27FC236}">
                <a16:creationId xmlns:a16="http://schemas.microsoft.com/office/drawing/2014/main" id="{A981CF17-4DA5-4FC6-A10E-E05E356A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290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D8E2DB"/>
                </a:solidFill>
              </a:defRPr>
            </a:pPr>
            <a:r>
              <a:rPr sz="1800">
                <a:solidFill>
                  <a:srgbClr val="D8E2DB"/>
                </a:solidFill>
              </a:rPr>
              <a:t>建筑设计汇报文本 Agent · 产品经理作品集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EF3266A5-7A7B-4190-AA76-C7575159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05350"/>
            <a:ext cx="409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note">
            <a:extLst xmlns:a="http://schemas.openxmlformats.org/drawingml/2006/main">
              <a:ext uri="{FF2B5EF4-FFF2-40B4-BE49-F238E27FC236}">
                <a16:creationId xmlns:a16="http://schemas.microsoft.com/office/drawing/2014/main" id="{CB6F4911-9BE3-4991-80D4-0E1EB3A7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53000"/>
            <a:ext cx="609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AAB8B0"/>
                </a:solidFill>
              </a:defRPr>
            </a:pPr>
            <a:r>
              <a:rPr sz="1350">
                <a:solidFill>
                  <a:srgbClr val="AAB8B0"/>
                </a:solidFill>
              </a:rPr>
              <a:t>从事实抽取、方向确认，到页面生成、视觉资产与云端存档的完整产品链路。</a:t>
            </a:r>
          </a:p>
        </p:txBody>
      </p:sp>
      <p:sp>
        <p:nvSpPr>
          <p:cNvPr id="7" name="cover-mark">
            <a:extLst xmlns:a="http://schemas.openxmlformats.org/drawingml/2006/main">
              <a:ext uri="{FF2B5EF4-FFF2-40B4-BE49-F238E27FC236}">
                <a16:creationId xmlns:a16="http://schemas.microsoft.com/office/drawing/2014/main" id="{4E017157-FFA0-42FD-B027-4569E90D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429250"/>
            <a:ext cx="114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4050" b="1">
                <a:solidFill>
                  <a:srgbClr val="D95D38"/>
                </a:solidFill>
              </a:defRPr>
            </a:pPr>
            <a:r>
              <a:rPr sz="4050" b="1">
                <a:solidFill>
                  <a:srgbClr val="D95D3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605784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5B7EBD-1A95-43A0-9E21-EFDC51F6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02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CE6782B4-5E70-404F-9B26-8E1E3DB4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WHY THIS PRODUCT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0CF421CA-59C4-481E-AA3E-3C2EBC71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CONTEXT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51D9BED-2B01-4BAA-8FD3-2C80640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F069FD-E710-4739-9AE1-C0808B0D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D"/>
                </a:solidFill>
              </a:defRPr>
            </a:pPr>
            <a:r>
              <a:rPr sz="3300" b="1">
                <a:solidFill>
                  <a:srgbClr val="17201D"/>
                </a:solidFill>
              </a:rPr>
              <a:t>建筑汇报的难点，不是“写一段文案”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0ECE634-565A-4229-BD14-0AADF384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而是让事实、方案、页面和资产在同一条链路里不走样。</a:t>
            </a:r>
          </a:p>
        </p:txBody>
      </p:sp>
      <p:sp>
        <p:nvSpPr>
          <p:cNvPr id="7" name="point-1">
            <a:extLst xmlns:a="http://schemas.openxmlformats.org/drawingml/2006/main">
              <a:ext uri="{FF2B5EF4-FFF2-40B4-BE49-F238E27FC236}">
                <a16:creationId xmlns:a16="http://schemas.microsoft.com/office/drawing/2014/main" id="{C0B80348-43C1-4F89-BB5B-3EB15EB4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5D38"/>
                </a:solidFill>
              </a:defRPr>
            </a:pPr>
            <a:r>
              <a:rPr sz="1275" b="1">
                <a:solidFill>
                  <a:srgbClr val="D95D38"/>
                </a:solidFill>
              </a:rPr>
              <a:t>01</a:t>
            </a:r>
          </a:p>
        </p:txBody>
      </p:sp>
      <p:sp>
        <p:nvSpPr>
          <p:cNvPr id="8" name="point-rule-1">
            <a:extLst xmlns:a="http://schemas.openxmlformats.org/drawingml/2006/main">
              <a:ext uri="{FF2B5EF4-FFF2-40B4-BE49-F238E27FC236}">
                <a16:creationId xmlns:a16="http://schemas.microsoft.com/office/drawing/2014/main" id="{2D2BFEFC-DB1C-432B-879B-545ADCA1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050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oint-heading-1">
            <a:extLst xmlns:a="http://schemas.openxmlformats.org/drawingml/2006/main">
              <a:ext uri="{FF2B5EF4-FFF2-40B4-BE49-F238E27FC236}">
                <a16:creationId xmlns:a16="http://schemas.microsoft.com/office/drawing/2014/main" id="{4348FC18-3E4E-40BE-9E1F-916CA871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3241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D"/>
                </a:solidFill>
              </a:defRPr>
            </a:pPr>
            <a:r>
              <a:rPr sz="1800" b="1">
                <a:solidFill>
                  <a:srgbClr val="17201D"/>
                </a:solidFill>
              </a:rPr>
              <a:t>任务书信息密度高</a:t>
            </a:r>
          </a:p>
        </p:txBody>
      </p:sp>
      <p:sp>
        <p:nvSpPr>
          <p:cNvPr id="10" name="point-body-1">
            <a:extLst xmlns:a="http://schemas.openxmlformats.org/drawingml/2006/main">
              <a:ext uri="{FF2B5EF4-FFF2-40B4-BE49-F238E27FC236}">
                <a16:creationId xmlns:a16="http://schemas.microsoft.com/office/drawing/2014/main" id="{947BB84C-433C-4504-B338-B27B37D4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7051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事实、方向、限制条件和交付要求分散在不同页面，人工整理容易漏项。</a:t>
            </a:r>
          </a:p>
        </p:txBody>
      </p:sp>
      <p:sp>
        <p:nvSpPr>
          <p:cNvPr id="11" name="point-2">
            <a:extLst xmlns:a="http://schemas.openxmlformats.org/drawingml/2006/main">
              <a:ext uri="{FF2B5EF4-FFF2-40B4-BE49-F238E27FC236}">
                <a16:creationId xmlns:a16="http://schemas.microsoft.com/office/drawing/2014/main" id="{4419017A-12D5-4C9C-ADB0-D65BA942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5947"/>
                </a:solidFill>
              </a:defRPr>
            </a:pPr>
            <a:r>
              <a:rPr sz="1275" b="1">
                <a:solidFill>
                  <a:srgbClr val="365947"/>
                </a:solidFill>
              </a:rPr>
              <a:t>02</a:t>
            </a:r>
          </a:p>
        </p:txBody>
      </p:sp>
      <p:sp>
        <p:nvSpPr>
          <p:cNvPr id="12" name="point-rule-2">
            <a:extLst xmlns:a="http://schemas.openxmlformats.org/drawingml/2006/main">
              <a:ext uri="{FF2B5EF4-FFF2-40B4-BE49-F238E27FC236}">
                <a16:creationId xmlns:a16="http://schemas.microsoft.com/office/drawing/2014/main" id="{2FECC22A-B6F7-46EC-B188-70298C69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576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oint-heading-2">
            <a:extLst xmlns:a="http://schemas.openxmlformats.org/drawingml/2006/main">
              <a:ext uri="{FF2B5EF4-FFF2-40B4-BE49-F238E27FC236}">
                <a16:creationId xmlns:a16="http://schemas.microsoft.com/office/drawing/2014/main" id="{D83E9C15-02D4-4593-8B32-1044E3FF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6766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D"/>
                </a:solidFill>
              </a:defRPr>
            </a:pPr>
            <a:r>
              <a:rPr sz="1800" b="1">
                <a:solidFill>
                  <a:srgbClr val="17201D"/>
                </a:solidFill>
              </a:rPr>
              <a:t>方案叙事需要跨页一致</a:t>
            </a:r>
          </a:p>
        </p:txBody>
      </p:sp>
      <p:sp>
        <p:nvSpPr>
          <p:cNvPr id="14" name="point-body-2">
            <a:extLst xmlns:a="http://schemas.openxmlformats.org/drawingml/2006/main">
              <a:ext uri="{FF2B5EF4-FFF2-40B4-BE49-F238E27FC236}">
                <a16:creationId xmlns:a16="http://schemas.microsoft.com/office/drawing/2014/main" id="{E5B3CC7D-256B-43CE-BCC9-4340DCE4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5765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同一方案在概念、效果、构造和总结页必须保持同一个身份与逻辑。</a:t>
            </a:r>
          </a:p>
        </p:txBody>
      </p:sp>
      <p:sp>
        <p:nvSpPr>
          <p:cNvPr id="15" name="point-3">
            <a:extLst xmlns:a="http://schemas.openxmlformats.org/drawingml/2006/main">
              <a:ext uri="{FF2B5EF4-FFF2-40B4-BE49-F238E27FC236}">
                <a16:creationId xmlns:a16="http://schemas.microsoft.com/office/drawing/2014/main" id="{7A88C94E-ED62-4434-87A2-F5A27554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5D38"/>
                </a:solidFill>
              </a:defRPr>
            </a:pPr>
            <a:r>
              <a:rPr sz="1275" b="1">
                <a:solidFill>
                  <a:srgbClr val="D95D38"/>
                </a:solidFill>
              </a:rPr>
              <a:t>03</a:t>
            </a:r>
          </a:p>
        </p:txBody>
      </p:sp>
      <p:sp>
        <p:nvSpPr>
          <p:cNvPr id="16" name="point-rule-3">
            <a:extLst xmlns:a="http://schemas.openxmlformats.org/drawingml/2006/main">
              <a:ext uri="{FF2B5EF4-FFF2-40B4-BE49-F238E27FC236}">
                <a16:creationId xmlns:a16="http://schemas.microsoft.com/office/drawing/2014/main" id="{6C3D5D14-001F-402E-8428-9DFE13FC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101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oint-heading-3">
            <a:extLst xmlns:a="http://schemas.openxmlformats.org/drawingml/2006/main">
              <a:ext uri="{FF2B5EF4-FFF2-40B4-BE49-F238E27FC236}">
                <a16:creationId xmlns:a16="http://schemas.microsoft.com/office/drawing/2014/main" id="{499F90C8-0BDE-4EC2-BEB2-33F78EE1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292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01D"/>
                </a:solidFill>
              </a:defRPr>
            </a:pPr>
            <a:r>
              <a:rPr sz="1800" b="1">
                <a:solidFill>
                  <a:srgbClr val="17201D"/>
                </a:solidFill>
              </a:rPr>
              <a:t>生成结果必须真正可交付</a:t>
            </a:r>
          </a:p>
        </p:txBody>
      </p:sp>
      <p:sp>
        <p:nvSpPr>
          <p:cNvPr id="18" name="point-body-3">
            <a:extLst xmlns:a="http://schemas.openxmlformats.org/drawingml/2006/main">
              <a:ext uri="{FF2B5EF4-FFF2-40B4-BE49-F238E27FC236}">
                <a16:creationId xmlns:a16="http://schemas.microsoft.com/office/drawing/2014/main" id="{BE97CC7D-C21A-4707-9853-3104A319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4102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文本不能遮挡，图片不能刷新即丢失，导出还要保持可编辑与可追溯。</a:t>
            </a:r>
          </a:p>
        </p:txBody>
      </p:sp>
      <p:sp>
        <p:nvSpPr>
          <p:cNvPr id="19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EA31D814-B44A-46ED-9E8C-F4D289DA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2672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roblem-quote">
            <a:extLst xmlns:a="http://schemas.openxmlformats.org/drawingml/2006/main">
              <a:ext uri="{FF2B5EF4-FFF2-40B4-BE49-F238E27FC236}">
                <a16:creationId xmlns:a16="http://schemas.microsoft.com/office/drawing/2014/main" id="{BAFDB08F-FDCC-4E04-8F59-CC80C150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860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设计师需要的不是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一个聊天框。</a:t>
            </a:r>
          </a:p>
        </p:txBody>
      </p:sp>
      <p:sp>
        <p:nvSpPr>
          <p:cNvPr id="21" name="problem-accent">
            <a:extLst xmlns:a="http://schemas.openxmlformats.org/drawingml/2006/main">
              <a:ext uri="{FF2B5EF4-FFF2-40B4-BE49-F238E27FC236}">
                <a16:creationId xmlns:a16="http://schemas.microsoft.com/office/drawing/2014/main" id="{E1E3CC26-7F26-4863-A99E-174DAD0A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95700"/>
            <a:ext cx="1619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blem-answer">
            <a:extLst xmlns:a="http://schemas.openxmlformats.org/drawingml/2006/main">
              <a:ext uri="{FF2B5EF4-FFF2-40B4-BE49-F238E27FC236}">
                <a16:creationId xmlns:a16="http://schemas.microsoft.com/office/drawing/2014/main" id="{E4C1C10B-8965-4AF2-8CF7-BBA415F3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00500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D5E0D8"/>
                </a:solidFill>
              </a:defRPr>
            </a:pPr>
            <a:r>
              <a:rPr sz="1500">
                <a:solidFill>
                  <a:srgbClr val="D5E0D8"/>
                </a:solidFill>
              </a:rPr>
              <a:t>需要一个能把不确定输入，</a:t>
            </a:r>
          </a:p>
          <a:p xmlns:a="http://schemas.openxmlformats.org/drawingml/2006/main">
            <a:pPr algn="l">
              <a:defRPr sz="1500">
                <a:solidFill>
                  <a:srgbClr val="D5E0D8"/>
                </a:solidFill>
              </a:defRPr>
            </a:pPr>
            <a:r>
              <a:rPr sz="1500">
                <a:solidFill>
                  <a:srgbClr val="D5E0D8"/>
                </a:solidFill>
              </a:rPr>
              <a:t>转成可检查、可修改、可保存的汇报系统。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880B8B8-F5DF-4DA5-9C9E-244102D7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">
            <a:extLst xmlns:a="http://schemas.openxmlformats.org/drawingml/2006/main">
              <a:ext uri="{FF2B5EF4-FFF2-40B4-BE49-F238E27FC236}">
                <a16:creationId xmlns:a16="http://schemas.microsoft.com/office/drawing/2014/main" id="{600D18E5-1F6D-43E5-AFBF-EA3653F5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AI PRODUCT MANAGER WORK SAMPLE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BBD55482-51CA-48FC-898F-B47FFD3D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19526329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E5196D-9E58-4D5F-889F-0295C0A5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03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7976FB9-4BCB-44B9-B30D-88793DB1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PRODUCT DIAGNOSIS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C2F311B9-5662-4DC8-949F-BD24D753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INSIGHT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39788C7-BE9C-40DC-8B8C-A13C44E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DE889C-A2A7-4B04-A1E6-1D43B8C0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D"/>
                </a:solidFill>
              </a:defRPr>
            </a:pPr>
            <a:r>
              <a:rPr sz="3300" b="1">
                <a:solidFill>
                  <a:srgbClr val="17201D"/>
                </a:solidFill>
              </a:rPr>
              <a:t>把“看起来能生成”拆成四个可控问题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0329C4E-2B48-4CBD-99B7-835F4A07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产品设计从失败现场出发：先定位链路，再定义兜底。</a:t>
            </a:r>
          </a:p>
        </p:txBody>
      </p:sp>
      <p:sp>
        <p:nvSpPr>
          <p:cNvPr id="7" name="diag-num-0">
            <a:extLst xmlns:a="http://schemas.openxmlformats.org/drawingml/2006/main">
              <a:ext uri="{FF2B5EF4-FFF2-40B4-BE49-F238E27FC236}">
                <a16:creationId xmlns:a16="http://schemas.microsoft.com/office/drawing/2014/main" id="{6CE5DC9C-7B15-4015-A031-82C08048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5D38"/>
                </a:solidFill>
              </a:defRPr>
            </a:pPr>
            <a:r>
              <a:rPr sz="1800" b="1">
                <a:solidFill>
                  <a:srgbClr val="D95D38"/>
                </a:solidFill>
              </a:rPr>
              <a:t>01</a:t>
            </a:r>
          </a:p>
        </p:txBody>
      </p:sp>
      <p:sp>
        <p:nvSpPr>
          <p:cNvPr id="8" name="diag-rule-0">
            <a:extLst xmlns:a="http://schemas.openxmlformats.org/drawingml/2006/main">
              <a:ext uri="{FF2B5EF4-FFF2-40B4-BE49-F238E27FC236}">
                <a16:creationId xmlns:a16="http://schemas.microsoft.com/office/drawing/2014/main" id="{C2B7B344-575A-4E45-B796-EC260888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6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ag-head-0">
            <a:extLst xmlns:a="http://schemas.openxmlformats.org/drawingml/2006/main">
              <a:ext uri="{FF2B5EF4-FFF2-40B4-BE49-F238E27FC236}">
                <a16:creationId xmlns:a16="http://schemas.microsoft.com/office/drawing/2014/main" id="{B1F1CBCD-0CAE-462E-B12E-A5E9871A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理解</a:t>
            </a:r>
          </a:p>
        </p:txBody>
      </p:sp>
      <p:sp>
        <p:nvSpPr>
          <p:cNvPr id="10" name="diag-body-0">
            <a:extLst xmlns:a="http://schemas.openxmlformats.org/drawingml/2006/main">
              <a:ext uri="{FF2B5EF4-FFF2-40B4-BE49-F238E27FC236}">
                <a16:creationId xmlns:a16="http://schemas.microsoft.com/office/drawing/2014/main" id="{AD4ECAD1-8D1C-4F2D-885E-82DE24A8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任务书是否被正确读取？</a:t>
            </a:r>
          </a:p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方向是否来自当前项目？</a:t>
            </a:r>
          </a:p>
        </p:txBody>
      </p:sp>
      <p:sp>
        <p:nvSpPr>
          <p:cNvPr id="11" name="diag-num-1">
            <a:extLst xmlns:a="http://schemas.openxmlformats.org/drawingml/2006/main">
              <a:ext uri="{FF2B5EF4-FFF2-40B4-BE49-F238E27FC236}">
                <a16:creationId xmlns:a16="http://schemas.microsoft.com/office/drawing/2014/main" id="{FC5CD4C4-C1CE-41FA-8835-11371BC5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526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947"/>
                </a:solidFill>
              </a:defRPr>
            </a:pPr>
            <a:r>
              <a:rPr sz="1800" b="1">
                <a:solidFill>
                  <a:srgbClr val="365947"/>
                </a:solidFill>
              </a:rPr>
              <a:t>02</a:t>
            </a:r>
          </a:p>
        </p:txBody>
      </p:sp>
      <p:sp>
        <p:nvSpPr>
          <p:cNvPr id="12" name="diag-rule-1">
            <a:extLst xmlns:a="http://schemas.openxmlformats.org/drawingml/2006/main">
              <a:ext uri="{FF2B5EF4-FFF2-40B4-BE49-F238E27FC236}">
                <a16:creationId xmlns:a16="http://schemas.microsoft.com/office/drawing/2014/main" id="{9ABE2A96-2BBB-4356-9B63-01A6ADD5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186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ag-head-1">
            <a:extLst xmlns:a="http://schemas.openxmlformats.org/drawingml/2006/main">
              <a:ext uri="{FF2B5EF4-FFF2-40B4-BE49-F238E27FC236}">
                <a16:creationId xmlns:a16="http://schemas.microsoft.com/office/drawing/2014/main" id="{F67E3919-820D-4069-9223-645E49DB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670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组织</a:t>
            </a:r>
          </a:p>
        </p:txBody>
      </p:sp>
      <p:sp>
        <p:nvSpPr>
          <p:cNvPr id="14" name="diag-body-1">
            <a:extLst xmlns:a="http://schemas.openxmlformats.org/drawingml/2006/main">
              <a:ext uri="{FF2B5EF4-FFF2-40B4-BE49-F238E27FC236}">
                <a16:creationId xmlns:a16="http://schemas.microsoft.com/office/drawing/2014/main" id="{192607EA-385A-410C-9530-249103D7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5814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页面标题、方案名和总结</a:t>
            </a:r>
          </a:p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是否共享同一身份？</a:t>
            </a:r>
          </a:p>
        </p:txBody>
      </p:sp>
      <p:sp>
        <p:nvSpPr>
          <p:cNvPr id="15" name="diag-num-2">
            <a:extLst xmlns:a="http://schemas.openxmlformats.org/drawingml/2006/main">
              <a:ext uri="{FF2B5EF4-FFF2-40B4-BE49-F238E27FC236}">
                <a16:creationId xmlns:a16="http://schemas.microsoft.com/office/drawing/2014/main" id="{5A5B5EDB-59EF-4BCC-90DD-6C091E06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526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5D38"/>
                </a:solidFill>
              </a:defRPr>
            </a:pPr>
            <a:r>
              <a:rPr sz="1800" b="1">
                <a:solidFill>
                  <a:srgbClr val="D95D38"/>
                </a:solidFill>
              </a:rPr>
              <a:t>03</a:t>
            </a:r>
          </a:p>
        </p:txBody>
      </p:sp>
      <p:sp>
        <p:nvSpPr>
          <p:cNvPr id="16" name="diag-rule-2">
            <a:extLst xmlns:a="http://schemas.openxmlformats.org/drawingml/2006/main">
              <a:ext uri="{FF2B5EF4-FFF2-40B4-BE49-F238E27FC236}">
                <a16:creationId xmlns:a16="http://schemas.microsoft.com/office/drawing/2014/main" id="{88E58E38-5D71-4854-9A06-EC4B968B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186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ag-head-2">
            <a:extLst xmlns:a="http://schemas.openxmlformats.org/drawingml/2006/main">
              <a:ext uri="{FF2B5EF4-FFF2-40B4-BE49-F238E27FC236}">
                <a16:creationId xmlns:a16="http://schemas.microsoft.com/office/drawing/2014/main" id="{7E421627-6836-48EF-BFE2-CFC4B61A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生成</a:t>
            </a:r>
          </a:p>
        </p:txBody>
      </p:sp>
      <p:sp>
        <p:nvSpPr>
          <p:cNvPr id="18" name="diag-body-2">
            <a:extLst xmlns:a="http://schemas.openxmlformats.org/drawingml/2006/main">
              <a:ext uri="{FF2B5EF4-FFF2-40B4-BE49-F238E27FC236}">
                <a16:creationId xmlns:a16="http://schemas.microsoft.com/office/drawing/2014/main" id="{720928CE-2862-45B5-90A8-0F04D9D9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814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提示词是否只带入当前页？</a:t>
            </a:r>
          </a:p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图像模型是否返回了图片？</a:t>
            </a:r>
          </a:p>
        </p:txBody>
      </p:sp>
      <p:sp>
        <p:nvSpPr>
          <p:cNvPr id="19" name="diag-num-3">
            <a:extLst xmlns:a="http://schemas.openxmlformats.org/drawingml/2006/main">
              <a:ext uri="{FF2B5EF4-FFF2-40B4-BE49-F238E27FC236}">
                <a16:creationId xmlns:a16="http://schemas.microsoft.com/office/drawing/2014/main" id="{3956B618-9B40-4EF0-B31D-311CEAB1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5265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5947"/>
                </a:solidFill>
              </a:defRPr>
            </a:pPr>
            <a:r>
              <a:rPr sz="1800" b="1">
                <a:solidFill>
                  <a:srgbClr val="365947"/>
                </a:solidFill>
              </a:rPr>
              <a:t>04</a:t>
            </a:r>
          </a:p>
        </p:txBody>
      </p:sp>
      <p:sp>
        <p:nvSpPr>
          <p:cNvPr id="20" name="diag-rule-3">
            <a:extLst xmlns:a="http://schemas.openxmlformats.org/drawingml/2006/main">
              <a:ext uri="{FF2B5EF4-FFF2-40B4-BE49-F238E27FC236}">
                <a16:creationId xmlns:a16="http://schemas.microsoft.com/office/drawing/2014/main" id="{6D4D9A93-5758-4276-8899-F3276E98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186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ag-head-3">
            <a:extLst xmlns:a="http://schemas.openxmlformats.org/drawingml/2006/main">
              <a:ext uri="{FF2B5EF4-FFF2-40B4-BE49-F238E27FC236}">
                <a16:creationId xmlns:a16="http://schemas.microsoft.com/office/drawing/2014/main" id="{65D54AE5-57B3-4D40-8629-4C00FCA3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670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01D"/>
                </a:solidFill>
              </a:defRPr>
            </a:pPr>
            <a:r>
              <a:rPr sz="2025" b="1">
                <a:solidFill>
                  <a:srgbClr val="17201D"/>
                </a:solidFill>
              </a:rPr>
              <a:t>交付</a:t>
            </a:r>
          </a:p>
        </p:txBody>
      </p:sp>
      <p:sp>
        <p:nvSpPr>
          <p:cNvPr id="22" name="diag-body-3">
            <a:extLst xmlns:a="http://schemas.openxmlformats.org/drawingml/2006/main">
              <a:ext uri="{FF2B5EF4-FFF2-40B4-BE49-F238E27FC236}">
                <a16:creationId xmlns:a16="http://schemas.microsoft.com/office/drawing/2014/main" id="{793DAF9E-1F99-4B03-9DA0-3FB5BD9D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581400"/>
            <a:ext cx="1943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文案是否适配 A3？</a:t>
            </a:r>
          </a:p>
          <a:p xmlns:a="http://schemas.openxmlformats.org/drawingml/2006/main">
            <a:pPr algn="l">
              <a:defRPr sz="1275">
                <a:solidFill>
                  <a:srgbClr val="6D7972"/>
                </a:solidFill>
              </a:defRPr>
            </a:pPr>
            <a:r>
              <a:rPr sz="1275">
                <a:solidFill>
                  <a:srgbClr val="6D7972"/>
                </a:solidFill>
              </a:rPr>
              <a:t>刷新后图片是否还在？</a:t>
            </a:r>
          </a:p>
        </p:txBody>
      </p:sp>
      <p:sp>
        <p:nvSpPr>
          <p:cNvPr id="23" name="diag-bottom">
            <a:extLst xmlns:a="http://schemas.openxmlformats.org/drawingml/2006/main">
              <a:ext uri="{FF2B5EF4-FFF2-40B4-BE49-F238E27FC236}">
                <a16:creationId xmlns:a16="http://schemas.microsoft.com/office/drawing/2014/main" id="{7EACAD46-69F9-4C31-AF59-DBE7A33B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iag-takeaway">
            <a:extLst xmlns:a="http://schemas.openxmlformats.org/drawingml/2006/main">
              <a:ext uri="{FF2B5EF4-FFF2-40B4-BE49-F238E27FC236}">
                <a16:creationId xmlns:a16="http://schemas.microsoft.com/office/drawing/2014/main" id="{CC36D3FC-0C4D-4C07-9F2D-35AF6D70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1D"/>
                </a:solidFill>
              </a:defRPr>
            </a:pPr>
            <a:r>
              <a:rPr sz="1425" b="1">
                <a:solidFill>
                  <a:srgbClr val="17201D"/>
                </a:solidFill>
              </a:rPr>
              <a:t>核心判断：可靠性不是单点能力，而是数据边界、生成约束、视觉校验和持久化共同组成的产品能力。</a:t>
            </a:r>
          </a:p>
        </p:txBody>
      </p:sp>
      <p:sp>
        <p:nvSpPr>
          <p:cNvPr id="2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DBB3611-6312-4C3A-9C4F-E770FF7A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">
            <a:extLst xmlns:a="http://schemas.openxmlformats.org/drawingml/2006/main">
              <a:ext uri="{FF2B5EF4-FFF2-40B4-BE49-F238E27FC236}">
                <a16:creationId xmlns:a16="http://schemas.microsoft.com/office/drawing/2014/main" id="{D829C7D9-66F1-444C-9770-F108A788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AI PRODUCT MANAGER WORK SAMPLE</a:t>
            </a:r>
          </a:p>
        </p:txBody>
      </p:sp>
      <p:sp>
        <p:nvSpPr>
          <p:cNvPr id="2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94D4645-40F6-4D46-BAB9-54DA2F1F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8680305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78879C-A12A-4016-A902-06CC72F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04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0F050B7E-CB66-43AE-9D54-5D28DA57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PRODUCT ARCHITECTURE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2919AB36-ADBB-45B0-9F58-5D33946F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SYSTEM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6C963B4-1C8E-439C-AE9C-51EF5560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3E337F-1BF8-40DA-9FF0-E1105107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D"/>
                </a:solidFill>
              </a:defRPr>
            </a:pPr>
            <a:r>
              <a:rPr sz="3300" b="1">
                <a:solidFill>
                  <a:srgbClr val="17201D"/>
                </a:solidFill>
              </a:rPr>
              <a:t>两条管线，共享底座；事实与参考严格隔离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CA74211-2A28-4C0E-90ED-DFB49896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同一工作台承载不同任务尺度，避免“大型项目经验”污染小型装置方案。</a:t>
            </a:r>
          </a:p>
        </p:txBody>
      </p:sp>
      <p:sp>
        <p:nvSpPr>
          <p:cNvPr id="7" name="current-project-label">
            <a:extLst xmlns:a="http://schemas.openxmlformats.org/drawingml/2006/main">
              <a:ext uri="{FF2B5EF4-FFF2-40B4-BE49-F238E27FC236}">
                <a16:creationId xmlns:a16="http://schemas.microsoft.com/office/drawing/2014/main" id="{92868B88-9A2F-404C-B48F-CC4CBAAE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95D38"/>
                </a:solidFill>
              </a:defRPr>
            </a:pPr>
            <a:r>
              <a:rPr sz="975" b="1">
                <a:solidFill>
                  <a:srgbClr val="D95D38"/>
                </a:solidFill>
              </a:rPr>
              <a:t>CURRENT PROJECT</a:t>
            </a:r>
          </a:p>
        </p:txBody>
      </p:sp>
      <p:sp>
        <p:nvSpPr>
          <p:cNvPr id="8" name="facts-surface">
            <a:extLst xmlns:a="http://schemas.openxmlformats.org/drawingml/2006/main">
              <a:ext uri="{FF2B5EF4-FFF2-40B4-BE49-F238E27FC236}">
                <a16:creationId xmlns:a16="http://schemas.microsoft.com/office/drawing/2014/main" id="{62F30EC7-8E88-4EC3-B7EB-90535A10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7CE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9" name="facts-heading">
            <a:extLst xmlns:a="http://schemas.openxmlformats.org/drawingml/2006/main">
              <a:ext uri="{FF2B5EF4-FFF2-40B4-BE49-F238E27FC236}">
                <a16:creationId xmlns:a16="http://schemas.microsoft.com/office/drawing/2014/main" id="{FD0AF255-A31F-407E-8F7D-C9CD014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项目事实</a:t>
            </a:r>
          </a:p>
        </p:txBody>
      </p:sp>
      <p:sp>
        <p:nvSpPr>
          <p:cNvPr id="10" name="facts-body">
            <a:extLst xmlns:a="http://schemas.openxmlformats.org/drawingml/2006/main">
              <a:ext uri="{FF2B5EF4-FFF2-40B4-BE49-F238E27FC236}">
                <a16:creationId xmlns:a16="http://schemas.microsoft.com/office/drawing/2014/main" id="{D88ED936-E312-4934-ABB8-076CF8AD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任务书、来源页码、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原文引用、确认状态</a:t>
            </a:r>
          </a:p>
        </p:txBody>
      </p:sp>
      <p:sp>
        <p:nvSpPr>
          <p:cNvPr id="11" name="facts-arrow-line">
            <a:extLst xmlns:a="http://schemas.openxmlformats.org/drawingml/2006/main">
              <a:ext uri="{FF2B5EF4-FFF2-40B4-BE49-F238E27FC236}">
                <a16:creationId xmlns:a16="http://schemas.microsoft.com/office/drawing/2014/main" id="{7EC6B479-CCEF-4F4A-B439-C27A00FE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670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acts-arrow-head">
            <a:extLst xmlns:a="http://schemas.openxmlformats.org/drawingml/2006/main">
              <a:ext uri="{FF2B5EF4-FFF2-40B4-BE49-F238E27FC236}">
                <a16:creationId xmlns:a16="http://schemas.microsoft.com/office/drawing/2014/main" id="{3D394479-3299-4DA3-8E7D-73003BD5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1942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ion-surface">
            <a:extLst xmlns:a="http://schemas.openxmlformats.org/drawingml/2006/main">
              <a:ext uri="{FF2B5EF4-FFF2-40B4-BE49-F238E27FC236}">
                <a16:creationId xmlns:a16="http://schemas.microsoft.com/office/drawing/2014/main" id="{EE54EB9A-A2DE-4A0A-BC80-E987494C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76500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14" name="direction-heading">
            <a:extLst xmlns:a="http://schemas.openxmlformats.org/drawingml/2006/main">
              <a:ext uri="{FF2B5EF4-FFF2-40B4-BE49-F238E27FC236}">
                <a16:creationId xmlns:a16="http://schemas.microsoft.com/office/drawing/2014/main" id="{96D1F67E-FF5D-4FC6-9BBE-56456428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28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设计方向</a:t>
            </a:r>
          </a:p>
        </p:txBody>
      </p:sp>
      <p:sp>
        <p:nvSpPr>
          <p:cNvPr id="15" name="direction-body">
            <a:extLst xmlns:a="http://schemas.openxmlformats.org/drawingml/2006/main">
              <a:ext uri="{FF2B5EF4-FFF2-40B4-BE49-F238E27FC236}">
                <a16:creationId xmlns:a16="http://schemas.microsoft.com/office/drawing/2014/main" id="{14B44571-C4D4-4D8C-9EE4-EA2579C3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289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任务书方向优先；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无方向时生成可编辑候选</a:t>
            </a:r>
          </a:p>
        </p:txBody>
      </p:sp>
      <p:sp>
        <p:nvSpPr>
          <p:cNvPr id="16" name="direction-arrow-line">
            <a:extLst xmlns:a="http://schemas.openxmlformats.org/drawingml/2006/main">
              <a:ext uri="{FF2B5EF4-FFF2-40B4-BE49-F238E27FC236}">
                <a16:creationId xmlns:a16="http://schemas.microsoft.com/office/drawing/2014/main" id="{D37B133B-53DB-481E-B726-F096FEF5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670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rection-arrow-head">
            <a:extLst xmlns:a="http://schemas.openxmlformats.org/drawingml/2006/main">
              <a:ext uri="{FF2B5EF4-FFF2-40B4-BE49-F238E27FC236}">
                <a16:creationId xmlns:a16="http://schemas.microsoft.com/office/drawing/2014/main" id="{9E3E77F9-8C03-49AF-A5D7-44D24F05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1942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ages-surface">
            <a:extLst xmlns:a="http://schemas.openxmlformats.org/drawingml/2006/main">
              <a:ext uri="{FF2B5EF4-FFF2-40B4-BE49-F238E27FC236}">
                <a16:creationId xmlns:a16="http://schemas.microsoft.com/office/drawing/2014/main" id="{329E1036-BEE5-4B67-893C-2B831AAB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2095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E9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19" name="pages-heading">
            <a:extLst xmlns:a="http://schemas.openxmlformats.org/drawingml/2006/main">
              <a:ext uri="{FF2B5EF4-FFF2-40B4-BE49-F238E27FC236}">
                <a16:creationId xmlns:a16="http://schemas.microsoft.com/office/drawing/2014/main" id="{AF1B39FD-3716-4CFD-877F-7FF941C9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28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页面架构</a:t>
            </a:r>
          </a:p>
        </p:txBody>
      </p:sp>
      <p:sp>
        <p:nvSpPr>
          <p:cNvPr id="20" name="pages-body">
            <a:extLst xmlns:a="http://schemas.openxmlformats.org/drawingml/2006/main">
              <a:ext uri="{FF2B5EF4-FFF2-40B4-BE49-F238E27FC236}">
                <a16:creationId xmlns:a16="http://schemas.microsoft.com/office/drawing/2014/main" id="{8216D604-2D03-4174-91B2-6E526E72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289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章节、页面角色、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方案名称和证据关系</a:t>
            </a:r>
          </a:p>
        </p:txBody>
      </p:sp>
      <p:sp>
        <p:nvSpPr>
          <p:cNvPr id="21" name="pages-arrow-line">
            <a:extLst xmlns:a="http://schemas.openxmlformats.org/drawingml/2006/main">
              <a:ext uri="{FF2B5EF4-FFF2-40B4-BE49-F238E27FC236}">
                <a16:creationId xmlns:a16="http://schemas.microsoft.com/office/drawing/2014/main" id="{F60500CB-23FB-481E-8A94-23D9C8DD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67050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ages-arrow-head">
            <a:extLst xmlns:a="http://schemas.openxmlformats.org/drawingml/2006/main">
              <a:ext uri="{FF2B5EF4-FFF2-40B4-BE49-F238E27FC236}">
                <a16:creationId xmlns:a16="http://schemas.microsoft.com/office/drawing/2014/main" id="{918B6FF9-7739-4779-B135-822DB613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1942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elivery-surface">
            <a:extLst xmlns:a="http://schemas.openxmlformats.org/drawingml/2006/main">
              <a:ext uri="{FF2B5EF4-FFF2-40B4-BE49-F238E27FC236}">
                <a16:creationId xmlns:a16="http://schemas.microsoft.com/office/drawing/2014/main" id="{9B9DB208-53F1-4EB3-B2C7-776336D0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76500"/>
            <a:ext cx="1809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E9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24" name="delivery-heading">
            <a:extLst xmlns:a="http://schemas.openxmlformats.org/drawingml/2006/main">
              <a:ext uri="{FF2B5EF4-FFF2-40B4-BE49-F238E27FC236}">
                <a16:creationId xmlns:a16="http://schemas.microsoft.com/office/drawing/2014/main" id="{801127A3-2F31-46D9-BCD6-CF360A33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6289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交付</a:t>
            </a:r>
          </a:p>
        </p:txBody>
      </p:sp>
      <p:sp>
        <p:nvSpPr>
          <p:cNvPr id="25" name="delivery-body">
            <a:extLst xmlns:a="http://schemas.openxmlformats.org/drawingml/2006/main">
              <a:ext uri="{FF2B5EF4-FFF2-40B4-BE49-F238E27FC236}">
                <a16:creationId xmlns:a16="http://schemas.microsoft.com/office/drawing/2014/main" id="{0982CA9C-CD60-408C-B7A2-DB9B6080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PDF / PPTX / DOCX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云端项目资产</a:t>
            </a:r>
          </a:p>
        </p:txBody>
      </p:sp>
      <p:sp>
        <p:nvSpPr>
          <p:cNvPr id="26" name="lane-rule">
            <a:extLst xmlns:a="http://schemas.openxmlformats.org/drawingml/2006/main">
              <a:ext uri="{FF2B5EF4-FFF2-40B4-BE49-F238E27FC236}">
                <a16:creationId xmlns:a16="http://schemas.microsoft.com/office/drawing/2014/main" id="{CEA7F571-26DD-4523-828C-A01BB48F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ipeline-a-label">
            <a:extLst xmlns:a="http://schemas.openxmlformats.org/drawingml/2006/main">
              <a:ext uri="{FF2B5EF4-FFF2-40B4-BE49-F238E27FC236}">
                <a16:creationId xmlns:a16="http://schemas.microsoft.com/office/drawing/2014/main" id="{E7A1376A-E7C9-484F-BB64-0D1150A3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5947"/>
                </a:solidFill>
              </a:defRPr>
            </a:pPr>
            <a:r>
              <a:rPr sz="975" b="1">
                <a:solidFill>
                  <a:srgbClr val="365947"/>
                </a:solidFill>
              </a:rPr>
              <a:t>PIPELINE A</a:t>
            </a:r>
          </a:p>
        </p:txBody>
      </p:sp>
      <p:sp>
        <p:nvSpPr>
          <p:cNvPr id="28" name="pipeline-a-title">
            <a:extLst xmlns:a="http://schemas.openxmlformats.org/drawingml/2006/main">
              <a:ext uri="{FF2B5EF4-FFF2-40B4-BE49-F238E27FC236}">
                <a16:creationId xmlns:a16="http://schemas.microsoft.com/office/drawing/2014/main" id="{6C1C7067-3CC0-4899-8158-2245DC2C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大型公共建筑</a:t>
            </a:r>
          </a:p>
        </p:txBody>
      </p:sp>
      <p:sp>
        <p:nvSpPr>
          <p:cNvPr id="29" name="pipeline-a-body">
            <a:extLst xmlns:a="http://schemas.openxmlformats.org/drawingml/2006/main">
              <a:ext uri="{FF2B5EF4-FFF2-40B4-BE49-F238E27FC236}">
                <a16:creationId xmlns:a16="http://schemas.microsoft.com/office/drawing/2014/main" id="{F1548F01-E401-4648-8314-EABD240B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428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场地 · 功能 · 交通 · 空间 · 立面 · 技术</a:t>
            </a:r>
          </a:p>
        </p:txBody>
      </p:sp>
      <p:sp>
        <p:nvSpPr>
          <p:cNvPr id="30" name="pipeline-b-label">
            <a:extLst xmlns:a="http://schemas.openxmlformats.org/drawingml/2006/main">
              <a:ext uri="{FF2B5EF4-FFF2-40B4-BE49-F238E27FC236}">
                <a16:creationId xmlns:a16="http://schemas.microsoft.com/office/drawing/2014/main" id="{56A8F670-411E-465D-BFEF-6EB071C5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62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95D38"/>
                </a:solidFill>
              </a:defRPr>
            </a:pPr>
            <a:r>
              <a:rPr sz="975" b="1">
                <a:solidFill>
                  <a:srgbClr val="D95D38"/>
                </a:solidFill>
              </a:rPr>
              <a:t>PIPELINE B</a:t>
            </a:r>
          </a:p>
        </p:txBody>
      </p:sp>
      <p:sp>
        <p:nvSpPr>
          <p:cNvPr id="31" name="pipeline-b-title">
            <a:extLst xmlns:a="http://schemas.openxmlformats.org/drawingml/2006/main">
              <a:ext uri="{FF2B5EF4-FFF2-40B4-BE49-F238E27FC236}">
                <a16:creationId xmlns:a16="http://schemas.microsoft.com/office/drawing/2014/main" id="{955045F9-231F-4C11-8B0E-B8AA9842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6730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小型建筑 / 装置</a:t>
            </a:r>
          </a:p>
        </p:txBody>
      </p:sp>
      <p:sp>
        <p:nvSpPr>
          <p:cNvPr id="3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BEF9B21-91F0-406A-9885-A0B34C7D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footer">
            <a:extLst xmlns:a="http://schemas.openxmlformats.org/drawingml/2006/main">
              <a:ext uri="{FF2B5EF4-FFF2-40B4-BE49-F238E27FC236}">
                <a16:creationId xmlns:a16="http://schemas.microsoft.com/office/drawing/2014/main" id="{033BD422-7710-40A0-9D6C-4B626F918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AI PRODUCT MANAGER WORK SAMPLE</a:t>
            </a:r>
          </a:p>
        </p:txBody>
      </p:sp>
      <p:sp>
        <p:nvSpPr>
          <p:cNvPr id="3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F14876A-908A-4FE2-893C-E9EBB739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3517633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20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74E14B9-19A2-4B16-AB55-2BC616DC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05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0FA7D97-16C9-41FF-9C82-F2757518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CASE STUDY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8556AD67-B357-4FD5-AE03-88D5740E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WEAVE CITY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06E5C35-0EA0-47B7-AC62-EC74011D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ase-page">
            <a:extLst xmlns:a="http://schemas.openxmlformats.org/drawingml/2006/main">
              <a:ext uri="{FF2B5EF4-FFF2-40B4-BE49-F238E27FC236}">
                <a16:creationId xmlns:a16="http://schemas.microsoft.com/office/drawing/2014/main" id="{9F11788C-CE44-4388-91C9-EAF3F6D1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05</a:t>
            </a:r>
          </a:p>
        </p:txBody>
      </p:sp>
      <p:sp>
        <p:nvSpPr>
          <p:cNvPr id="6" name="case-kicker">
            <a:extLst xmlns:a="http://schemas.openxmlformats.org/drawingml/2006/main">
              <a:ext uri="{FF2B5EF4-FFF2-40B4-BE49-F238E27FC236}">
                <a16:creationId xmlns:a16="http://schemas.microsoft.com/office/drawing/2014/main" id="{227F2F3A-56E9-479C-9A71-C28C8172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590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C7BF"/>
                </a:solidFill>
              </a:defRPr>
            </a:pPr>
            <a:r>
              <a:rPr sz="1050" b="1">
                <a:solidFill>
                  <a:srgbClr val="B9C7BF"/>
                </a:solidFill>
              </a:rPr>
              <a:t>CASE STUDY · SMALL-SCALE BUILDING PIPELINE</a:t>
            </a:r>
          </a:p>
        </p:txBody>
      </p:sp>
      <p:sp>
        <p:nvSpPr>
          <p:cNvPr id="7" name="case-section">
            <a:extLst xmlns:a="http://schemas.openxmlformats.org/drawingml/2006/main">
              <a:ext uri="{FF2B5EF4-FFF2-40B4-BE49-F238E27FC236}">
                <a16:creationId xmlns:a16="http://schemas.microsoft.com/office/drawing/2014/main" id="{4E9F8A6D-30EA-40C0-BA4E-FF3C6F82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B9C7BF"/>
                </a:solidFill>
              </a:defRPr>
            </a:pPr>
            <a:r>
              <a:rPr sz="975">
                <a:solidFill>
                  <a:srgbClr val="B9C7BF"/>
                </a:solidFill>
              </a:rPr>
              <a:t>织回城市</a:t>
            </a:r>
          </a:p>
        </p:txBody>
      </p:sp>
      <p:sp>
        <p:nvSpPr>
          <p:cNvPr id="8" name="case-header-rule">
            <a:extLst xmlns:a="http://schemas.openxmlformats.org/drawingml/2006/main">
              <a:ext uri="{FF2B5EF4-FFF2-40B4-BE49-F238E27FC236}">
                <a16:creationId xmlns:a16="http://schemas.microsoft.com/office/drawing/2014/main" id="{CDF2615E-FAC7-4FBF-9592-1D167634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24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se-title">
            <a:extLst xmlns:a="http://schemas.openxmlformats.org/drawingml/2006/main">
              <a:ext uri="{FF2B5EF4-FFF2-40B4-BE49-F238E27FC236}">
                <a16:creationId xmlns:a16="http://schemas.microsoft.com/office/drawing/2014/main" id="{663F3065-4DCD-4E38-8800-561536DC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6096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新任务书</a:t>
            </a:r>
          </a:p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不再等于旧项目换皮</a:t>
            </a:r>
          </a:p>
        </p:txBody>
      </p:sp>
      <p:sp>
        <p:nvSpPr>
          <p:cNvPr id="10" name="case-brief">
            <a:extLst xmlns:a="http://schemas.openxmlformats.org/drawingml/2006/main">
              <a:ext uri="{FF2B5EF4-FFF2-40B4-BE49-F238E27FC236}">
                <a16:creationId xmlns:a16="http://schemas.microsoft.com/office/drawing/2014/main" id="{E3C29A5F-3B8B-4496-8D16-3FB146D3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D3DFD7"/>
                </a:solidFill>
              </a:defRPr>
            </a:pPr>
            <a:r>
              <a:rPr sz="1575">
                <a:solidFill>
                  <a:srgbClr val="D3DFD7"/>
                </a:solidFill>
              </a:rPr>
              <a:t>测试任务书：回线循环材料实验室</a:t>
            </a:r>
          </a:p>
          <a:p xmlns:a="http://schemas.openxmlformats.org/drawingml/2006/main">
            <a:pPr algn="l">
              <a:defRPr sz="1575">
                <a:solidFill>
                  <a:srgbClr val="D3DFD7"/>
                </a:solidFill>
              </a:defRPr>
            </a:pPr>
            <a:r>
              <a:rPr sz="1575">
                <a:solidFill>
                  <a:srgbClr val="D3DFD7"/>
                </a:solidFill>
              </a:rPr>
              <a:t>主题：旧衣不旧，城市再织</a:t>
            </a:r>
          </a:p>
          <a:p xmlns:a="http://schemas.openxmlformats.org/drawingml/2006/main">
            <a:pPr algn="l">
              <a:defRPr sz="1575">
                <a:solidFill>
                  <a:srgbClr val="D3DFD7"/>
                </a:solidFill>
              </a:defRPr>
            </a:pPr>
            <a:r>
              <a:rPr sz="1575">
                <a:solidFill>
                  <a:srgbClr val="D3DFD7"/>
                </a:solidFill>
              </a:rPr>
              <a:t>方向：纤维再生站 / 共织风廊</a:t>
            </a:r>
          </a:p>
        </p:txBody>
      </p:sp>
      <p:sp>
        <p:nvSpPr>
          <p:cNvPr id="11" name="case-insight">
            <a:extLst xmlns:a="http://schemas.openxmlformats.org/drawingml/2006/main">
              <a:ext uri="{FF2B5EF4-FFF2-40B4-BE49-F238E27FC236}">
                <a16:creationId xmlns:a16="http://schemas.microsoft.com/office/drawing/2014/main" id="{0B350959-4D01-4F6E-B714-08932B10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46482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8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ase-insight-label">
            <a:extLst xmlns:a="http://schemas.openxmlformats.org/drawingml/2006/main">
              <a:ext uri="{FF2B5EF4-FFF2-40B4-BE49-F238E27FC236}">
                <a16:creationId xmlns:a16="http://schemas.microsoft.com/office/drawing/2014/main" id="{B96210F5-63DF-4AB4-AF78-7F1C0EC7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9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95D38"/>
                </a:solidFill>
              </a:defRPr>
            </a:pPr>
            <a:r>
              <a:rPr sz="975" b="1">
                <a:solidFill>
                  <a:srgbClr val="D95D38"/>
                </a:solidFill>
              </a:rPr>
              <a:t>PRODUCT CHECK</a:t>
            </a:r>
          </a:p>
        </p:txBody>
      </p:sp>
      <p:sp>
        <p:nvSpPr>
          <p:cNvPr id="13" name="case-insight-title">
            <a:extLst xmlns:a="http://schemas.openxmlformats.org/drawingml/2006/main">
              <a:ext uri="{FF2B5EF4-FFF2-40B4-BE49-F238E27FC236}">
                <a16:creationId xmlns:a16="http://schemas.microsoft.com/office/drawing/2014/main" id="{EB50DFBC-97E5-4DA6-BFE2-8B787044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9075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13 页框架</a:t>
            </a:r>
          </a:p>
          <a:p xmlns:a="http://schemas.openxmlformats.org/drawingml/2006/main">
            <a:pPr algn="l"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来自当前任务书</a:t>
            </a:r>
          </a:p>
        </p:txBody>
      </p:sp>
      <p:sp>
        <p:nvSpPr>
          <p:cNvPr id="14" name="case-insight-rule">
            <a:extLst xmlns:a="http://schemas.openxmlformats.org/drawingml/2006/main">
              <a:ext uri="{FF2B5EF4-FFF2-40B4-BE49-F238E27FC236}">
                <a16:creationId xmlns:a16="http://schemas.microsoft.com/office/drawing/2014/main" id="{44DED3FA-5A09-4F2F-A9F3-061416DD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337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ase-insight-body">
            <a:extLst xmlns:a="http://schemas.openxmlformats.org/drawingml/2006/main">
              <a:ext uri="{FF2B5EF4-FFF2-40B4-BE49-F238E27FC236}">
                <a16:creationId xmlns:a16="http://schemas.microsoft.com/office/drawing/2014/main" id="{C6C69CF6-C7DE-4034-AAAA-F2D3EB71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3429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C9D8CF"/>
                </a:solidFill>
              </a:defRPr>
            </a:pPr>
            <a:r>
              <a:rPr sz="1350">
                <a:solidFill>
                  <a:srgbClr val="C9D8CF"/>
                </a:solidFill>
              </a:rPr>
              <a:t>提取项目名、活动主题、两个方向与产品；页面标题、图框和总结页沿用同一方案身份；未带入景德镇旧项目。</a:t>
            </a:r>
          </a:p>
        </p:txBody>
      </p:sp>
      <p:sp>
        <p:nvSpPr>
          <p:cNvPr id="1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3C01938-6395-4CE0-ADF9-DCE9F867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">
            <a:extLst xmlns:a="http://schemas.openxmlformats.org/drawingml/2006/main">
              <a:ext uri="{FF2B5EF4-FFF2-40B4-BE49-F238E27FC236}">
                <a16:creationId xmlns:a16="http://schemas.microsoft.com/office/drawing/2014/main" id="{2E9D6865-EBD5-4D65-9BB3-26B37F32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WORK SAMPLE · EVIDENCE-GROUNDED FLOW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26CA8B67-892A-4A5A-89AB-83F7FF60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8956129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55BD3E-664C-423B-92F8-056B5386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06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07A3E66-1511-40AF-BB59-E23DBC0A0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EXPERIENCE DESIGN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58D14CE0-213D-449E-A9C4-24E5D4C0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UX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A1F22B6-7DD7-4FB5-957A-F0A7106D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6034A3-E0FC-49C6-BBBA-3E586973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D"/>
                </a:solidFill>
              </a:defRPr>
            </a:pPr>
            <a:r>
              <a:rPr sz="3300" b="1">
                <a:solidFill>
                  <a:srgbClr val="17201D"/>
                </a:solidFill>
              </a:rPr>
              <a:t>把关键动作放到用户眼前，而不是藏在“更多工具”里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49843FE-25C0-4F95-A883-71FE5DFE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工作台围绕三个高频动作重排：生成、暂停、交付。</a:t>
            </a:r>
          </a:p>
        </p:txBody>
      </p:sp>
      <p:sp>
        <p:nvSpPr>
          <p:cNvPr id="7" name="ux-num-0">
            <a:extLst xmlns:a="http://schemas.openxmlformats.org/drawingml/2006/main">
              <a:ext uri="{FF2B5EF4-FFF2-40B4-BE49-F238E27FC236}">
                <a16:creationId xmlns:a16="http://schemas.microsoft.com/office/drawing/2014/main" id="{E56B5561-2D7A-4258-B371-F24D3E05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65947"/>
                </a:solidFill>
              </a:defRPr>
            </a:pPr>
            <a:r>
              <a:rPr sz="1200" b="1">
                <a:solidFill>
                  <a:srgbClr val="365947"/>
                </a:solidFill>
              </a:rPr>
              <a:t>01</a:t>
            </a:r>
          </a:p>
        </p:txBody>
      </p:sp>
      <p:sp>
        <p:nvSpPr>
          <p:cNvPr id="8" name="ux-line-0">
            <a:extLst xmlns:a="http://schemas.openxmlformats.org/drawingml/2006/main">
              <a:ext uri="{FF2B5EF4-FFF2-40B4-BE49-F238E27FC236}">
                <a16:creationId xmlns:a16="http://schemas.microsoft.com/office/drawing/2014/main" id="{8698444A-7F08-429E-97D5-7E49CACC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1460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ux-head-0">
            <a:extLst xmlns:a="http://schemas.openxmlformats.org/drawingml/2006/main">
              <a:ext uri="{FF2B5EF4-FFF2-40B4-BE49-F238E27FC236}">
                <a16:creationId xmlns:a16="http://schemas.microsoft.com/office/drawing/2014/main" id="{44E55A8C-B0BD-4B25-9A89-642BC1D0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上传任务书</a:t>
            </a:r>
          </a:p>
        </p:txBody>
      </p:sp>
      <p:sp>
        <p:nvSpPr>
          <p:cNvPr id="10" name="ux-body-0">
            <a:extLst xmlns:a="http://schemas.openxmlformats.org/drawingml/2006/main">
              <a:ext uri="{FF2B5EF4-FFF2-40B4-BE49-F238E27FC236}">
                <a16:creationId xmlns:a16="http://schemas.microsoft.com/office/drawing/2014/main" id="{34967F72-7621-4870-A83E-C34EB8BC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识别任务模式</a:t>
            </a:r>
          </a:p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提取当前项目事实</a:t>
            </a:r>
          </a:p>
        </p:txBody>
      </p:sp>
      <p:sp>
        <p:nvSpPr>
          <p:cNvPr id="11" name="ux-num-1">
            <a:extLst xmlns:a="http://schemas.openxmlformats.org/drawingml/2006/main">
              <a:ext uri="{FF2B5EF4-FFF2-40B4-BE49-F238E27FC236}">
                <a16:creationId xmlns:a16="http://schemas.microsoft.com/office/drawing/2014/main" id="{FF088C71-4221-43A2-9056-2EA00AD5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003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65947"/>
                </a:solidFill>
              </a:defRPr>
            </a:pPr>
            <a:r>
              <a:rPr sz="1200" b="1">
                <a:solidFill>
                  <a:srgbClr val="365947"/>
                </a:solidFill>
              </a:rPr>
              <a:t>02</a:t>
            </a:r>
          </a:p>
        </p:txBody>
      </p:sp>
      <p:sp>
        <p:nvSpPr>
          <p:cNvPr id="12" name="ux-line-1">
            <a:extLst xmlns:a="http://schemas.openxmlformats.org/drawingml/2006/main">
              <a:ext uri="{FF2B5EF4-FFF2-40B4-BE49-F238E27FC236}">
                <a16:creationId xmlns:a16="http://schemas.microsoft.com/office/drawing/2014/main" id="{F8901530-08A9-46D7-9F72-0052AA25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1460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ux-head-1">
            <a:extLst xmlns:a="http://schemas.openxmlformats.org/drawingml/2006/main">
              <a:ext uri="{FF2B5EF4-FFF2-40B4-BE49-F238E27FC236}">
                <a16:creationId xmlns:a16="http://schemas.microsoft.com/office/drawing/2014/main" id="{890C7485-BCE3-449B-9EC3-1D4F91AF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95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确认方向</a:t>
            </a:r>
          </a:p>
        </p:txBody>
      </p:sp>
      <p:sp>
        <p:nvSpPr>
          <p:cNvPr id="14" name="ux-body-1">
            <a:extLst xmlns:a="http://schemas.openxmlformats.org/drawingml/2006/main">
              <a:ext uri="{FF2B5EF4-FFF2-40B4-BE49-F238E27FC236}">
                <a16:creationId xmlns:a16="http://schemas.microsoft.com/office/drawing/2014/main" id="{1BBDFDC8-FC8E-435B-B40C-AD22791E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4290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查看三方向</a:t>
            </a:r>
          </a:p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编辑或补充设计意图</a:t>
            </a:r>
          </a:p>
        </p:txBody>
      </p:sp>
      <p:sp>
        <p:nvSpPr>
          <p:cNvPr id="15" name="ux-num-2">
            <a:extLst xmlns:a="http://schemas.openxmlformats.org/drawingml/2006/main">
              <a:ext uri="{FF2B5EF4-FFF2-40B4-BE49-F238E27FC236}">
                <a16:creationId xmlns:a16="http://schemas.microsoft.com/office/drawing/2014/main" id="{1A24EB68-E960-4329-B05A-31C35A08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003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5D38"/>
                </a:solidFill>
              </a:defRPr>
            </a:pPr>
            <a:r>
              <a:rPr sz="1200" b="1">
                <a:solidFill>
                  <a:srgbClr val="D95D38"/>
                </a:solidFill>
              </a:rPr>
              <a:t>03</a:t>
            </a:r>
          </a:p>
        </p:txBody>
      </p:sp>
      <p:sp>
        <p:nvSpPr>
          <p:cNvPr id="16" name="ux-line-2">
            <a:extLst xmlns:a="http://schemas.openxmlformats.org/drawingml/2006/main">
              <a:ext uri="{FF2B5EF4-FFF2-40B4-BE49-F238E27FC236}">
                <a16:creationId xmlns:a16="http://schemas.microsoft.com/office/drawing/2014/main" id="{2F18EBEA-CF63-4951-8550-B73EA02D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1460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ux-head-2">
            <a:extLst xmlns:a="http://schemas.openxmlformats.org/drawingml/2006/main">
              <a:ext uri="{FF2B5EF4-FFF2-40B4-BE49-F238E27FC236}">
                <a16:creationId xmlns:a16="http://schemas.microsoft.com/office/drawing/2014/main" id="{82299EAE-19CF-464E-A84F-157C833D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95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生成整套</a:t>
            </a:r>
          </a:p>
        </p:txBody>
      </p:sp>
      <p:sp>
        <p:nvSpPr>
          <p:cNvPr id="18" name="ux-body-2">
            <a:extLst xmlns:a="http://schemas.openxmlformats.org/drawingml/2006/main">
              <a:ext uri="{FF2B5EF4-FFF2-40B4-BE49-F238E27FC236}">
                <a16:creationId xmlns:a16="http://schemas.microsoft.com/office/drawing/2014/main" id="{3E318CC7-B8D6-4DDB-95F4-079B2486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290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正文先匹配</a:t>
            </a:r>
          </a:p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图片逐槽生成</a:t>
            </a:r>
          </a:p>
        </p:txBody>
      </p:sp>
      <p:sp>
        <p:nvSpPr>
          <p:cNvPr id="19" name="ux-pause-note">
            <a:extLst xmlns:a="http://schemas.openxmlformats.org/drawingml/2006/main">
              <a:ext uri="{FF2B5EF4-FFF2-40B4-BE49-F238E27FC236}">
                <a16:creationId xmlns:a16="http://schemas.microsoft.com/office/drawing/2014/main" id="{A3A6F52D-BC64-445F-9F7C-E413C211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57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可暂停 · 可继续 · 跳过已生成</a:t>
            </a:r>
          </a:p>
        </p:txBody>
      </p:sp>
      <p:sp>
        <p:nvSpPr>
          <p:cNvPr id="20" name="ux-num-3">
            <a:extLst xmlns:a="http://schemas.openxmlformats.org/drawingml/2006/main">
              <a:ext uri="{FF2B5EF4-FFF2-40B4-BE49-F238E27FC236}">
                <a16:creationId xmlns:a16="http://schemas.microsoft.com/office/drawing/2014/main" id="{EB7F5F34-E412-4011-8306-27007598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003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65947"/>
                </a:solidFill>
              </a:defRPr>
            </a:pPr>
            <a:r>
              <a:rPr sz="1200" b="1">
                <a:solidFill>
                  <a:srgbClr val="365947"/>
                </a:solidFill>
              </a:rPr>
              <a:t>04</a:t>
            </a:r>
          </a:p>
        </p:txBody>
      </p:sp>
      <p:sp>
        <p:nvSpPr>
          <p:cNvPr id="21" name="ux-line-3">
            <a:extLst xmlns:a="http://schemas.openxmlformats.org/drawingml/2006/main">
              <a:ext uri="{FF2B5EF4-FFF2-40B4-BE49-F238E27FC236}">
                <a16:creationId xmlns:a16="http://schemas.microsoft.com/office/drawing/2014/main" id="{F5557F1C-660B-4240-B6B3-DFEA5624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1460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ux-head-3">
            <a:extLst xmlns:a="http://schemas.openxmlformats.org/drawingml/2006/main">
              <a:ext uri="{FF2B5EF4-FFF2-40B4-BE49-F238E27FC236}">
                <a16:creationId xmlns:a16="http://schemas.microsoft.com/office/drawing/2014/main" id="{C426BAA1-C93E-49FD-8C06-70AA65CF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95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检查交付</a:t>
            </a:r>
          </a:p>
        </p:txBody>
      </p:sp>
      <p:sp>
        <p:nvSpPr>
          <p:cNvPr id="23" name="ux-body-3">
            <a:extLst xmlns:a="http://schemas.openxmlformats.org/drawingml/2006/main">
              <a:ext uri="{FF2B5EF4-FFF2-40B4-BE49-F238E27FC236}">
                <a16:creationId xmlns:a16="http://schemas.microsoft.com/office/drawing/2014/main" id="{80A18E58-C1AE-4329-8740-8D576844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290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真实 A3 溢出检测</a:t>
            </a:r>
          </a:p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云端保存后导出</a:t>
            </a:r>
          </a:p>
        </p:txBody>
      </p:sp>
      <p:sp>
        <p:nvSpPr>
          <p:cNvPr id="24" name="ux-bottom">
            <a:extLst xmlns:a="http://schemas.openxmlformats.org/drawingml/2006/main">
              <a:ext uri="{FF2B5EF4-FFF2-40B4-BE49-F238E27FC236}">
                <a16:creationId xmlns:a16="http://schemas.microsoft.com/office/drawing/2014/main" id="{30501A01-BFE0-42CD-BCD3-42497067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ux-bottom-text">
            <a:extLst xmlns:a="http://schemas.openxmlformats.org/drawingml/2006/main">
              <a:ext uri="{FF2B5EF4-FFF2-40B4-BE49-F238E27FC236}">
                <a16:creationId xmlns:a16="http://schemas.microsoft.com/office/drawing/2014/main" id="{384AA2DE-9500-44E2-B9D4-CA672512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0545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65947"/>
                </a:solidFill>
              </a:defRPr>
            </a:pPr>
            <a:r>
              <a:rPr sz="1425" b="1">
                <a:solidFill>
                  <a:srgbClr val="365947"/>
                </a:solidFill>
              </a:rPr>
              <a:t>交互原则：用户始终知道 Agent 在处理哪一页、哪个图框、处于哪个阶段，以及结果是否已经保存。</a:t>
            </a:r>
          </a:p>
        </p:txBody>
      </p:sp>
      <p:sp>
        <p:nvSpPr>
          <p:cNvPr id="2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D8ED199-5CD4-46C1-9D76-3EFE1664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footer">
            <a:extLst xmlns:a="http://schemas.openxmlformats.org/drawingml/2006/main">
              <a:ext uri="{FF2B5EF4-FFF2-40B4-BE49-F238E27FC236}">
                <a16:creationId xmlns:a16="http://schemas.microsoft.com/office/drawing/2014/main" id="{1E2CDE27-7860-4FD0-B824-1273AE56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AI PRODUCT MANAGER WORK SAMPLE</a:t>
            </a:r>
          </a:p>
        </p:txBody>
      </p:sp>
      <p:sp>
        <p:nvSpPr>
          <p:cNvPr id="2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20751BB-9505-4FCA-BBE4-13DE06E1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4105598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8FF7A70-DD64-4637-8C33-C0658BC4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07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12C21867-2478-4789-9B38-23D15721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RELIABILITY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684E4F31-FB7A-4E15-8ABE-113FA80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CLOUD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75851C4-6DE1-42B6-9B08-439F11BC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3437E7-FF58-4282-901C-B5D4449F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D"/>
                </a:solidFill>
              </a:defRPr>
            </a:pPr>
            <a:r>
              <a:rPr sz="3300" b="1">
                <a:solidFill>
                  <a:srgbClr val="17201D"/>
                </a:solidFill>
              </a:rPr>
              <a:t>“刷新后还在”是生成式产品的基本体验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00079B1-27E9-4566-8281-70AFC8D4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把图片从浏览器临时状态，提升为项目资产的一部分。</a:t>
            </a:r>
          </a:p>
        </p:txBody>
      </p:sp>
      <p:sp>
        <p:nvSpPr>
          <p:cNvPr id="7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D0A368D-B499-4A14-BD1B-6FE22D04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BEFORE</a:t>
            </a:r>
          </a:p>
        </p:txBody>
      </p:sp>
      <p:sp>
        <p:nvSpPr>
          <p:cNvPr id="8" name="before-copy">
            <a:extLst xmlns:a="http://schemas.openxmlformats.org/drawingml/2006/main">
              <a:ext uri="{FF2B5EF4-FFF2-40B4-BE49-F238E27FC236}">
                <a16:creationId xmlns:a16="http://schemas.microsoft.com/office/drawing/2014/main" id="{CD1C6703-5EE4-4F40-9AF3-DCC571E6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028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生成图片 → 只在页面状态里</a:t>
            </a:r>
          </a:p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刷新 → 图片消失</a:t>
            </a:r>
          </a:p>
        </p:txBody>
      </p:sp>
      <p:sp>
        <p:nvSpPr>
          <p:cNvPr id="9" name="before-cross">
            <a:extLst xmlns:a="http://schemas.openxmlformats.org/drawingml/2006/main">
              <a:ext uri="{FF2B5EF4-FFF2-40B4-BE49-F238E27FC236}">
                <a16:creationId xmlns:a16="http://schemas.microsoft.com/office/drawing/2014/main" id="{F64C5A7B-9FB0-4F86-97F0-4A5EC5ED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fter-label">
            <a:extLst xmlns:a="http://schemas.openxmlformats.org/drawingml/2006/main">
              <a:ext uri="{FF2B5EF4-FFF2-40B4-BE49-F238E27FC236}">
                <a16:creationId xmlns:a16="http://schemas.microsoft.com/office/drawing/2014/main" id="{3EE7A6BE-2700-4888-A140-BC166FDE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52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5947"/>
                </a:solidFill>
              </a:defRPr>
            </a:pPr>
            <a:r>
              <a:rPr sz="1050" b="1">
                <a:solidFill>
                  <a:srgbClr val="365947"/>
                </a:solidFill>
              </a:rPr>
              <a:t>AFTER</a:t>
            </a:r>
          </a:p>
        </p:txBody>
      </p:sp>
      <p:sp>
        <p:nvSpPr>
          <p:cNvPr id="11" name="cloud-page-surface">
            <a:extLst xmlns:a="http://schemas.openxmlformats.org/drawingml/2006/main">
              <a:ext uri="{FF2B5EF4-FFF2-40B4-BE49-F238E27FC236}">
                <a16:creationId xmlns:a16="http://schemas.microsoft.com/office/drawing/2014/main" id="{509B165B-BB64-4820-B3A2-54252E3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12" name="cloud-page-heading">
            <a:extLst xmlns:a="http://schemas.openxmlformats.org/drawingml/2006/main">
              <a:ext uri="{FF2B5EF4-FFF2-40B4-BE49-F238E27FC236}">
                <a16:creationId xmlns:a16="http://schemas.microsoft.com/office/drawing/2014/main" id="{882EB676-6ABE-4A2E-A954-981B5F13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页面内容</a:t>
            </a:r>
          </a:p>
        </p:txBody>
      </p:sp>
      <p:sp>
        <p:nvSpPr>
          <p:cNvPr id="13" name="cloud-page-body">
            <a:extLst xmlns:a="http://schemas.openxmlformats.org/drawingml/2006/main">
              <a:ext uri="{FF2B5EF4-FFF2-40B4-BE49-F238E27FC236}">
                <a16:creationId xmlns:a16="http://schemas.microsoft.com/office/drawing/2014/main" id="{9A5ED7B3-F6F8-4C6A-9139-FFEB0572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242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page_id + slot_id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文案与图框定义</a:t>
            </a:r>
          </a:p>
        </p:txBody>
      </p:sp>
      <p:sp>
        <p:nvSpPr>
          <p:cNvPr id="14" name="cloud-arrow-1-line">
            <a:extLst xmlns:a="http://schemas.openxmlformats.org/drawingml/2006/main">
              <a:ext uri="{FF2B5EF4-FFF2-40B4-BE49-F238E27FC236}">
                <a16:creationId xmlns:a16="http://schemas.microsoft.com/office/drawing/2014/main" id="{DFBEACDD-049A-4AED-8C5D-3ABCAC3A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861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loud-arrow-1-head">
            <a:extLst xmlns:a="http://schemas.openxmlformats.org/drawingml/2006/main">
              <a:ext uri="{FF2B5EF4-FFF2-40B4-BE49-F238E27FC236}">
                <a16:creationId xmlns:a16="http://schemas.microsoft.com/office/drawing/2014/main" id="{A93A3F08-856A-4161-ACF4-0B101FB3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38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loud-asset-surface">
            <a:extLst xmlns:a="http://schemas.openxmlformats.org/drawingml/2006/main">
              <a:ext uri="{FF2B5EF4-FFF2-40B4-BE49-F238E27FC236}">
                <a16:creationId xmlns:a16="http://schemas.microsoft.com/office/drawing/2014/main" id="{415153B8-91ED-4D3A-9382-C227257A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1809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E9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17" name="cloud-asset-heading">
            <a:extLst xmlns:a="http://schemas.openxmlformats.org/drawingml/2006/main">
              <a:ext uri="{FF2B5EF4-FFF2-40B4-BE49-F238E27FC236}">
                <a16:creationId xmlns:a16="http://schemas.microsoft.com/office/drawing/2014/main" id="{BA80221F-C40B-4C19-9808-047F6A72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图片资产</a:t>
            </a:r>
          </a:p>
        </p:txBody>
      </p:sp>
      <p:sp>
        <p:nvSpPr>
          <p:cNvPr id="18" name="cloud-asset-body">
            <a:extLst xmlns:a="http://schemas.openxmlformats.org/drawingml/2006/main">
              <a:ext uri="{FF2B5EF4-FFF2-40B4-BE49-F238E27FC236}">
                <a16:creationId xmlns:a16="http://schemas.microsoft.com/office/drawing/2014/main" id="{60A1D0D2-1B7A-4FBD-8E98-B746C517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242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版本 URL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模型与生成记录</a:t>
            </a:r>
          </a:p>
        </p:txBody>
      </p:sp>
      <p:sp>
        <p:nvSpPr>
          <p:cNvPr id="19" name="cloud-arrow-2-line">
            <a:extLst xmlns:a="http://schemas.openxmlformats.org/drawingml/2006/main">
              <a:ext uri="{FF2B5EF4-FFF2-40B4-BE49-F238E27FC236}">
                <a16:creationId xmlns:a16="http://schemas.microsoft.com/office/drawing/2014/main" id="{2A379768-0D8B-4A01-80C3-439008BA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861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loud-arrow-2-head">
            <a:extLst xmlns:a="http://schemas.openxmlformats.org/drawingml/2006/main">
              <a:ext uri="{FF2B5EF4-FFF2-40B4-BE49-F238E27FC236}">
                <a16:creationId xmlns:a16="http://schemas.microsoft.com/office/drawing/2014/main" id="{84120F95-A105-4146-9181-448B05F7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038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loud-save-surface">
            <a:extLst xmlns:a="http://schemas.openxmlformats.org/drawingml/2006/main">
              <a:ext uri="{FF2B5EF4-FFF2-40B4-BE49-F238E27FC236}">
                <a16:creationId xmlns:a16="http://schemas.microsoft.com/office/drawing/2014/main" id="{7853B4FD-A802-456F-BEAB-2EF2FC42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571750"/>
            <a:ext cx="1028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F"/>
          </a:solidFill>
          <a:ln xmlns:a="http://schemas.openxmlformats.org/drawingml/2006/main" w="9525">
            <a:solidFill>
              <a:srgbClr val="C7D0CA"/>
            </a:solidFill>
            <a:prstDash val="solid"/>
          </a:ln>
        </p:spPr>
      </p:sp>
      <p:sp>
        <p:nvSpPr>
          <p:cNvPr id="22" name="cloud-save-heading">
            <a:extLst xmlns:a="http://schemas.openxmlformats.org/drawingml/2006/main">
              <a:ext uri="{FF2B5EF4-FFF2-40B4-BE49-F238E27FC236}">
                <a16:creationId xmlns:a16="http://schemas.microsoft.com/office/drawing/2014/main" id="{9B57AC39-8C1B-452F-977A-3CD10647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7241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MemFire</a:t>
            </a:r>
          </a:p>
        </p:txBody>
      </p:sp>
      <p:sp>
        <p:nvSpPr>
          <p:cNvPr id="23" name="cloud-save-body">
            <a:extLst xmlns:a="http://schemas.openxmlformats.org/drawingml/2006/main">
              <a:ext uri="{FF2B5EF4-FFF2-40B4-BE49-F238E27FC236}">
                <a16:creationId xmlns:a16="http://schemas.microsoft.com/office/drawing/2014/main" id="{B11A5600-17A6-4748-BA9B-A1CBD865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124200"/>
            <a:ext cx="647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刷新</a:t>
            </a:r>
          </a:p>
          <a:p xmlns:a="http://schemas.openxmlformats.org/drawingml/2006/main">
            <a:pPr algn="l">
              <a:defRPr sz="1200">
                <a:solidFill>
                  <a:srgbClr val="6D7972"/>
                </a:solidFill>
              </a:defRPr>
            </a:pPr>
            <a:r>
              <a:rPr sz="1200">
                <a:solidFill>
                  <a:srgbClr val="6D7972"/>
                </a:solidFill>
              </a:rPr>
              <a:t>可恢复</a:t>
            </a:r>
          </a:p>
        </p:txBody>
      </p:sp>
      <p:sp>
        <p:nvSpPr>
          <p:cNvPr id="24" name="cloud-rule">
            <a:extLst xmlns:a="http://schemas.openxmlformats.org/drawingml/2006/main">
              <a:ext uri="{FF2B5EF4-FFF2-40B4-BE49-F238E27FC236}">
                <a16:creationId xmlns:a16="http://schemas.microsoft.com/office/drawing/2014/main" id="{8B52C2E5-3AB5-49C9-9CE7-B061CAF1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4340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loud-principle">
            <a:extLst xmlns:a="http://schemas.openxmlformats.org/drawingml/2006/main">
              <a:ext uri="{FF2B5EF4-FFF2-40B4-BE49-F238E27FC236}">
                <a16:creationId xmlns:a16="http://schemas.microsoft.com/office/drawing/2014/main" id="{AFE8436E-3FC9-48FA-B651-31798E2B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D"/>
                </a:solidFill>
              </a:defRPr>
            </a:pPr>
            <a:r>
              <a:rPr sz="1650" b="1">
                <a:solidFill>
                  <a:srgbClr val="17201D"/>
                </a:solidFill>
              </a:rPr>
              <a:t>保存策略</a:t>
            </a:r>
          </a:p>
        </p:txBody>
      </p:sp>
      <p:sp>
        <p:nvSpPr>
          <p:cNvPr id="26" name="cloud-principle-body">
            <a:extLst xmlns:a="http://schemas.openxmlformats.org/drawingml/2006/main">
              <a:ext uri="{FF2B5EF4-FFF2-40B4-BE49-F238E27FC236}">
                <a16:creationId xmlns:a16="http://schemas.microsoft.com/office/drawing/2014/main" id="{D349902C-E800-453F-B1E1-1F943CDD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项目内容变化才自动写入；图片完成后单独落库；替换图片使用新版本 URL；翻页和选中图框不产生写入。</a:t>
            </a:r>
          </a:p>
        </p:txBody>
      </p:sp>
      <p:sp>
        <p:nvSpPr>
          <p:cNvPr id="2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A3B92D1-F51E-44BD-B1E4-A34E45A8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8B05D609-BA22-4DAC-9077-8FDEA21C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AI PRODUCT MANAGER WORK SAMPLE</a:t>
            </a:r>
          </a:p>
        </p:txBody>
      </p:sp>
      <p:sp>
        <p:nvSpPr>
          <p:cNvPr id="29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DEA389E0-46A7-483C-8E78-96EFDEBC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7807032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32C045-ACC2-4F66-9385-B1B8A299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08</a:t>
            </a:r>
          </a:p>
        </p:txBody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7D60C2BC-1080-426F-8388-60C73C80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38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D7972"/>
                </a:solidFill>
              </a:defRPr>
            </a:pPr>
            <a:r>
              <a:rPr sz="1050" b="1">
                <a:solidFill>
                  <a:srgbClr val="6D7972"/>
                </a:solidFill>
              </a:rPr>
              <a:t>PRODUCT METHOD</a:t>
            </a:r>
          </a:p>
        </p:txBody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3EB768FD-74FA-43C5-9B40-6D0FC685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3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6D7972"/>
                </a:solidFill>
              </a:defRPr>
            </a:pPr>
            <a:r>
              <a:rPr sz="975">
                <a:solidFill>
                  <a:srgbClr val="6D7972"/>
                </a:solidFill>
              </a:rPr>
              <a:t>ROADMAP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D203F91-16FC-460C-B3BD-2A1928E8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2AEB95-012B-4C20-AD4E-AA5077A3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201D"/>
                </a:solidFill>
              </a:defRPr>
            </a:pPr>
            <a:r>
              <a:rPr sz="3300" b="1">
                <a:solidFill>
                  <a:srgbClr val="17201D"/>
                </a:solidFill>
              </a:rPr>
              <a:t>从“功能堆叠”转向“证据闭环”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0E7B1E0-1C23-466C-86BB-902A438B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每一次产品改动都回答一个问题：用户能否更快确认、更少返工、更稳交付？</a:t>
            </a:r>
          </a:p>
        </p:txBody>
      </p:sp>
      <p:sp>
        <p:nvSpPr>
          <p:cNvPr id="7" name="working-loop-label">
            <a:extLst xmlns:a="http://schemas.openxmlformats.org/drawingml/2006/main">
              <a:ext uri="{FF2B5EF4-FFF2-40B4-BE49-F238E27FC236}">
                <a16:creationId xmlns:a16="http://schemas.microsoft.com/office/drawing/2014/main" id="{3066A632-FA59-4943-BCAA-3ACF1E0D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5D38"/>
                </a:solidFill>
              </a:defRPr>
            </a:pPr>
            <a:r>
              <a:rPr sz="1050" b="1">
                <a:solidFill>
                  <a:srgbClr val="D95D38"/>
                </a:solidFill>
              </a:rPr>
              <a:t>WORKING LOOP</a:t>
            </a:r>
          </a:p>
        </p:txBody>
      </p:sp>
      <p:sp>
        <p:nvSpPr>
          <p:cNvPr id="8" name="loop-head-0">
            <a:extLst xmlns:a="http://schemas.openxmlformats.org/drawingml/2006/main">
              <a:ext uri="{FF2B5EF4-FFF2-40B4-BE49-F238E27FC236}">
                <a16:creationId xmlns:a16="http://schemas.microsoft.com/office/drawing/2014/main" id="{FDE7FCCE-314C-4530-9B92-F12193B3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1D"/>
                </a:solidFill>
              </a:defRPr>
            </a:pPr>
            <a:r>
              <a:rPr sz="1950" b="1">
                <a:solidFill>
                  <a:srgbClr val="17201D"/>
                </a:solidFill>
              </a:rPr>
              <a:t>提取</a:t>
            </a:r>
          </a:p>
        </p:txBody>
      </p:sp>
      <p:sp>
        <p:nvSpPr>
          <p:cNvPr id="9" name="loop-rule-0">
            <a:extLst xmlns:a="http://schemas.openxmlformats.org/drawingml/2006/main">
              <a:ext uri="{FF2B5EF4-FFF2-40B4-BE49-F238E27FC236}">
                <a16:creationId xmlns:a16="http://schemas.microsoft.com/office/drawing/2014/main" id="{A5B9E00E-CAEA-45EE-ACE8-0455A692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619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oop-body-0">
            <a:extLst xmlns:a="http://schemas.openxmlformats.org/drawingml/2006/main">
              <a:ext uri="{FF2B5EF4-FFF2-40B4-BE49-F238E27FC236}">
                <a16:creationId xmlns:a16="http://schemas.microsoft.com/office/drawing/2014/main" id="{791C0D61-F5DC-491E-8068-DC1E463A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事实有来源</a:t>
            </a:r>
          </a:p>
        </p:txBody>
      </p:sp>
      <p:sp>
        <p:nvSpPr>
          <p:cNvPr id="11" name="loop-head-1">
            <a:extLst xmlns:a="http://schemas.openxmlformats.org/drawingml/2006/main">
              <a:ext uri="{FF2B5EF4-FFF2-40B4-BE49-F238E27FC236}">
                <a16:creationId xmlns:a16="http://schemas.microsoft.com/office/drawing/2014/main" id="{A5A73DD8-0096-4841-B8BB-A2F496DF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241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1D"/>
                </a:solidFill>
              </a:defRPr>
            </a:pPr>
            <a:r>
              <a:rPr sz="1950" b="1">
                <a:solidFill>
                  <a:srgbClr val="17201D"/>
                </a:solidFill>
              </a:rPr>
              <a:t>确认</a:t>
            </a:r>
          </a:p>
        </p:txBody>
      </p:sp>
      <p:sp>
        <p:nvSpPr>
          <p:cNvPr id="12" name="loop-rule-1">
            <a:extLst xmlns:a="http://schemas.openxmlformats.org/drawingml/2006/main">
              <a:ext uri="{FF2B5EF4-FFF2-40B4-BE49-F238E27FC236}">
                <a16:creationId xmlns:a16="http://schemas.microsoft.com/office/drawing/2014/main" id="{97EB60EB-1534-4650-966F-D7BD4B5B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238500"/>
            <a:ext cx="1619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oop-body-1">
            <a:extLst xmlns:a="http://schemas.openxmlformats.org/drawingml/2006/main">
              <a:ext uri="{FF2B5EF4-FFF2-40B4-BE49-F238E27FC236}">
                <a16:creationId xmlns:a16="http://schemas.microsoft.com/office/drawing/2014/main" id="{496B3C01-E2A6-49EB-9608-2A571367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24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方向可编辑</a:t>
            </a:r>
          </a:p>
        </p:txBody>
      </p:sp>
      <p:sp>
        <p:nvSpPr>
          <p:cNvPr id="14" name="loop-head-2">
            <a:extLst xmlns:a="http://schemas.openxmlformats.org/drawingml/2006/main">
              <a:ext uri="{FF2B5EF4-FFF2-40B4-BE49-F238E27FC236}">
                <a16:creationId xmlns:a16="http://schemas.microsoft.com/office/drawing/2014/main" id="{010895CA-4B3D-475D-AF4B-B8349060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241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1D"/>
                </a:solidFill>
              </a:defRPr>
            </a:pPr>
            <a:r>
              <a:rPr sz="1950" b="1">
                <a:solidFill>
                  <a:srgbClr val="17201D"/>
                </a:solidFill>
              </a:rPr>
              <a:t>生成</a:t>
            </a:r>
          </a:p>
        </p:txBody>
      </p:sp>
      <p:sp>
        <p:nvSpPr>
          <p:cNvPr id="15" name="loop-rule-2">
            <a:extLst xmlns:a="http://schemas.openxmlformats.org/drawingml/2006/main">
              <a:ext uri="{FF2B5EF4-FFF2-40B4-BE49-F238E27FC236}">
                <a16:creationId xmlns:a16="http://schemas.microsoft.com/office/drawing/2014/main" id="{B5553291-CB82-453A-8D26-4755D98A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38500"/>
            <a:ext cx="1619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loop-body-2">
            <a:extLst xmlns:a="http://schemas.openxmlformats.org/drawingml/2006/main">
              <a:ext uri="{FF2B5EF4-FFF2-40B4-BE49-F238E27FC236}">
                <a16:creationId xmlns:a16="http://schemas.microsoft.com/office/drawing/2014/main" id="{17650223-CF83-435F-8ACA-F1395D64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24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内容可约束</a:t>
            </a:r>
          </a:p>
        </p:txBody>
      </p:sp>
      <p:sp>
        <p:nvSpPr>
          <p:cNvPr id="17" name="loop-head-3">
            <a:extLst xmlns:a="http://schemas.openxmlformats.org/drawingml/2006/main">
              <a:ext uri="{FF2B5EF4-FFF2-40B4-BE49-F238E27FC236}">
                <a16:creationId xmlns:a16="http://schemas.microsoft.com/office/drawing/2014/main" id="{1730B212-3A3B-4BE3-9D60-B8F3FC08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241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01D"/>
                </a:solidFill>
              </a:defRPr>
            </a:pPr>
            <a:r>
              <a:rPr sz="1950" b="1">
                <a:solidFill>
                  <a:srgbClr val="17201D"/>
                </a:solidFill>
              </a:rPr>
              <a:t>校验</a:t>
            </a:r>
          </a:p>
        </p:txBody>
      </p:sp>
      <p:sp>
        <p:nvSpPr>
          <p:cNvPr id="18" name="loop-rule-3">
            <a:extLst xmlns:a="http://schemas.openxmlformats.org/drawingml/2006/main">
              <a:ext uri="{FF2B5EF4-FFF2-40B4-BE49-F238E27FC236}">
                <a16:creationId xmlns:a16="http://schemas.microsoft.com/office/drawing/2014/main" id="{AB299BB7-1CED-4939-B545-3B54B390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38500"/>
            <a:ext cx="1619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loop-body-3">
            <a:extLst xmlns:a="http://schemas.openxmlformats.org/drawingml/2006/main">
              <a:ext uri="{FF2B5EF4-FFF2-40B4-BE49-F238E27FC236}">
                <a16:creationId xmlns:a16="http://schemas.microsoft.com/office/drawing/2014/main" id="{8100D27A-5E91-41F7-9635-BD1E0958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24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版面可测量</a:t>
            </a:r>
          </a:p>
        </p:txBody>
      </p:sp>
      <p:sp>
        <p:nvSpPr>
          <p:cNvPr id="20" name="loop-head-4">
            <a:extLst xmlns:a="http://schemas.openxmlformats.org/drawingml/2006/main">
              <a:ext uri="{FF2B5EF4-FFF2-40B4-BE49-F238E27FC236}">
                <a16:creationId xmlns:a16="http://schemas.microsoft.com/office/drawing/2014/main" id="{6D434974-7464-4837-BF32-0D19DD69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72415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65947"/>
                </a:solidFill>
              </a:defRPr>
            </a:pPr>
            <a:r>
              <a:rPr sz="1950" b="1">
                <a:solidFill>
                  <a:srgbClr val="365947"/>
                </a:solidFill>
              </a:rPr>
              <a:t>保存</a:t>
            </a:r>
          </a:p>
        </p:txBody>
      </p:sp>
      <p:sp>
        <p:nvSpPr>
          <p:cNvPr id="21" name="loop-rule-4">
            <a:extLst xmlns:a="http://schemas.openxmlformats.org/drawingml/2006/main">
              <a:ext uri="{FF2B5EF4-FFF2-40B4-BE49-F238E27FC236}">
                <a16:creationId xmlns:a16="http://schemas.microsoft.com/office/drawing/2014/main" id="{8480AB7A-B078-4F77-B2DA-35C9D340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38500"/>
            <a:ext cx="1619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59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loop-body-4">
            <a:extLst xmlns:a="http://schemas.openxmlformats.org/drawingml/2006/main">
              <a:ext uri="{FF2B5EF4-FFF2-40B4-BE49-F238E27FC236}">
                <a16:creationId xmlns:a16="http://schemas.microsoft.com/office/drawing/2014/main" id="{06529583-57A3-46C3-9D75-2E198CB7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524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资产可恢复</a:t>
            </a:r>
          </a:p>
        </p:txBody>
      </p:sp>
      <p:sp>
        <p:nvSpPr>
          <p:cNvPr id="23" name="roadmap-rule">
            <a:extLst xmlns:a="http://schemas.openxmlformats.org/drawingml/2006/main">
              <a:ext uri="{FF2B5EF4-FFF2-40B4-BE49-F238E27FC236}">
                <a16:creationId xmlns:a16="http://schemas.microsoft.com/office/drawing/2014/main" id="{1CF5BCE3-86E2-4823-B2BF-22041AE8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next-label">
            <a:extLst xmlns:a="http://schemas.openxmlformats.org/drawingml/2006/main">
              <a:ext uri="{FF2B5EF4-FFF2-40B4-BE49-F238E27FC236}">
                <a16:creationId xmlns:a16="http://schemas.microsoft.com/office/drawing/2014/main" id="{80C88F2E-649F-4CED-B962-CE30FE96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5947"/>
                </a:solidFill>
              </a:defRPr>
            </a:pPr>
            <a:r>
              <a:rPr sz="1050" b="1">
                <a:solidFill>
                  <a:srgbClr val="365947"/>
                </a:solidFill>
              </a:rPr>
              <a:t>NEXT</a:t>
            </a:r>
          </a:p>
        </p:txBody>
      </p:sp>
      <p:sp>
        <p:nvSpPr>
          <p:cNvPr id="25" name="next-body">
            <a:extLst xmlns:a="http://schemas.openxmlformats.org/drawingml/2006/main">
              <a:ext uri="{FF2B5EF4-FFF2-40B4-BE49-F238E27FC236}">
                <a16:creationId xmlns:a16="http://schemas.microsoft.com/office/drawing/2014/main" id="{BEE79236-CDD7-4499-A18C-A4623765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1D"/>
                </a:solidFill>
              </a:defRPr>
            </a:pPr>
            <a:r>
              <a:rPr sz="1875" b="1">
                <a:solidFill>
                  <a:srgbClr val="17201D"/>
                </a:solidFill>
              </a:rPr>
              <a:t>把生成后的人工修改、导出反馈和方案选择沉淀为下一轮产品输入。</a:t>
            </a:r>
          </a:p>
        </p:txBody>
      </p:sp>
      <p:sp>
        <p:nvSpPr>
          <p:cNvPr id="26" name="next-direction">
            <a:extLst xmlns:a="http://schemas.openxmlformats.org/drawingml/2006/main">
              <a:ext uri="{FF2B5EF4-FFF2-40B4-BE49-F238E27FC236}">
                <a16:creationId xmlns:a16="http://schemas.microsoft.com/office/drawing/2014/main" id="{22D3840E-090C-492A-92D8-35003EE3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149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6D7972"/>
                </a:solidFill>
              </a:defRPr>
            </a:pPr>
            <a:r>
              <a:rPr sz="1350">
                <a:solidFill>
                  <a:srgbClr val="6D7972"/>
                </a:solidFill>
              </a:rPr>
              <a:t>方向：资产版本管理 · 任务恢复 · 更精确的页面级质量检查 · 团队协作边界</a:t>
            </a:r>
          </a:p>
        </p:txBody>
      </p:sp>
      <p:sp>
        <p:nvSpPr>
          <p:cNvPr id="2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7C8A1E6-C6AF-45FE-9AF8-6B7BADA4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C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F166D4C0-B8C4-4D4B-B195-5F827E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AI PRODUCT MANAGER WORK SAMPLE</a:t>
            </a:r>
          </a:p>
        </p:txBody>
      </p:sp>
      <p:sp>
        <p:nvSpPr>
          <p:cNvPr id="29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0730A336-BB33-4860-836D-6428E927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5341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D7972"/>
                </a:solidFill>
              </a:defRPr>
            </a:pPr>
            <a:r>
              <a:rPr sz="825" b="1">
                <a:solidFill>
                  <a:srgbClr val="6D7972"/>
                </a:solidFill>
              </a:rPr>
              <a:t>DESIGN REPORT AGENT</a:t>
            </a:r>
          </a:p>
        </p:txBody>
      </p:sp>
    </p:spTree>
    <p:extLst>
      <p:ext uri="{BB962C8B-B14F-4D97-AF65-F5344CB8AC3E}">
        <p14:creationId xmlns:p14="http://schemas.microsoft.com/office/powerpoint/2010/main" val="12575418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20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1E9A956A-FC9C-4BDC-AF58-704DBF58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33350" cy="548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0E373593-AA59-4E29-AB70-7920200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287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C7BF"/>
                </a:solidFill>
              </a:defRPr>
            </a:pPr>
            <a:r>
              <a:rPr sz="1200" b="1">
                <a:solidFill>
                  <a:srgbClr val="B9C7BF"/>
                </a:solidFill>
              </a:rPr>
              <a:t>WHY ME · PRODUCT THINKING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717D3B6B-BB87-47BF-9635-DE80C79F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7429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我擅长把复杂的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生成式工作流做成产品</a:t>
            </a:r>
          </a:p>
        </p:txBody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2BBE26D2-1C83-458D-9191-FC9A371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685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D5E0D8"/>
                </a:solidFill>
              </a:defRPr>
            </a:pPr>
            <a:r>
              <a:rPr sz="1575">
                <a:solidFill>
                  <a:srgbClr val="D5E0D8"/>
                </a:solidFill>
              </a:rPr>
              <a:t>从用户问题出发，拆解输入、状态、模型、界面和交付之间的责任边界；</a:t>
            </a:r>
          </a:p>
          <a:p xmlns:a="http://schemas.openxmlformats.org/drawingml/2006/main">
            <a:pPr algn="l">
              <a:defRPr sz="1575">
                <a:solidFill>
                  <a:srgbClr val="D5E0D8"/>
                </a:solidFill>
              </a:defRPr>
            </a:pPr>
            <a:r>
              <a:rPr sz="1575">
                <a:solidFill>
                  <a:srgbClr val="D5E0D8"/>
                </a:solidFill>
              </a:rPr>
              <a:t>用可回测的链路把“能生成”推进到“能使用、能修改、能保存”。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996716E9-D36B-4FA8-9F35-44BA7922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3905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e-foot">
            <a:extLst xmlns:a="http://schemas.openxmlformats.org/drawingml/2006/main">
              <a:ext uri="{FF2B5EF4-FFF2-40B4-BE49-F238E27FC236}">
                <a16:creationId xmlns:a16="http://schemas.microsoft.com/office/drawing/2014/main" id="{FF0B2765-9834-4A8D-A81E-2D0015ED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AAB8B0"/>
                </a:solidFill>
              </a:defRPr>
            </a:pPr>
            <a:r>
              <a:rPr sz="1350">
                <a:solidFill>
                  <a:srgbClr val="AAB8B0"/>
                </a:solidFill>
              </a:rPr>
              <a:t>建筑设计汇报文本 Agent · AI 产品经理作品集</a:t>
            </a:r>
          </a:p>
        </p:txBody>
      </p:sp>
      <p:sp>
        <p:nvSpPr>
          <p:cNvPr id="7" name="close-mark">
            <a:extLst xmlns:a="http://schemas.openxmlformats.org/drawingml/2006/main">
              <a:ext uri="{FF2B5EF4-FFF2-40B4-BE49-F238E27FC236}">
                <a16:creationId xmlns:a16="http://schemas.microsoft.com/office/drawing/2014/main" id="{81A3578F-F77A-4473-BADE-DC4DD401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429250"/>
            <a:ext cx="114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4050" b="1">
                <a:solidFill>
                  <a:srgbClr val="D95D38"/>
                </a:solidFill>
              </a:defRPr>
            </a:pPr>
            <a:r>
              <a:rPr sz="4050" b="1">
                <a:solidFill>
                  <a:srgbClr val="D95D3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29705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2026-08-26T17:24:45.2530000Z</dcterms:created>
  <dcterms:modified xsi:type="dcterms:W3CDTF">2026-08-26T17:24:45.2530000Z</dcterms:modified>
</coreProperties>
</file>